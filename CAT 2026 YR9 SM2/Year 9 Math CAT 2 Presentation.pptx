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66" r:id="rId4"/>
    <p:sldId id="258" r:id="rId5"/>
    <p:sldId id="259" r:id="rId6"/>
    <p:sldId id="260" r:id="rId7"/>
    <p:sldId id="261" r:id="rId8"/>
    <p:sldId id="262" r:id="rId9"/>
    <p:sldId id="263" r:id="rId10"/>
    <p:sldId id="264" r:id="rId11"/>
    <p:sldId id="265" r:id="rId12"/>
  </p:sldIdLst>
  <p:sldSz cx="12192000" cy="6858000"/>
  <p:notesSz cx="6858000" cy="9144000"/>
  <p:embeddedFontLst>
    <p:embeddedFont>
      <p:font typeface="Cambria Math" panose="02040503050406030204" pitchFamily="18" charset="0"/>
      <p:regular r:id="rId13"/>
    </p:embeddedFont>
    <p:embeddedFont>
      <p:font typeface="Plus Jakarta Sans"/>
      <p:bold r:id="rId14"/>
    </p:embeddedFont>
    <p:embeddedFont>
      <p:font typeface="Space Grotesk"/>
      <p:bold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62000" y="2597050"/>
            <a:ext cx="1893093" cy="185737"/>
          </a:xfrm>
          <a:prstGeom prst="rect">
            <a:avLst/>
          </a:prstGeom>
          <a:noFill/>
        </p:spPr>
        <p:txBody>
          <a:bodyPr wrap="none" lIns="0" tIns="0" rIns="0" bIns="0" anchor="t">
            <a:spAutoFit/>
          </a:bodyPr>
          <a:lstStyle/>
          <a:p>
            <a:pPr algn="l">
              <a:lnSpc>
                <a:spcPts val="1462"/>
              </a:lnSpc>
            </a:pPr>
            <a:r>
              <a:rPr sz="975" b="1" i="0" u="none">
                <a:solidFill>
                  <a:srgbClr val="38BDF8"/>
                </a:solidFill>
                <a:latin typeface="Space Grotesk"/>
              </a:rPr>
              <a:t>YEAR 9 MATHEMATICS</a:t>
            </a:r>
          </a:p>
        </p:txBody>
      </p:sp>
      <p:sp>
        <p:nvSpPr>
          <p:cNvPr id="3" name="TextBox 2"/>
          <p:cNvSpPr txBox="1"/>
          <p:nvPr/>
        </p:nvSpPr>
        <p:spPr>
          <a:xfrm>
            <a:off x="762000" y="2973288"/>
            <a:ext cx="6013251" cy="544710"/>
          </a:xfrm>
          <a:prstGeom prst="rect">
            <a:avLst/>
          </a:prstGeom>
          <a:noFill/>
        </p:spPr>
        <p:txBody>
          <a:bodyPr wrap="none" lIns="0" tIns="0" rIns="0" bIns="0" anchor="t">
            <a:spAutoFit/>
          </a:bodyPr>
          <a:lstStyle/>
          <a:p>
            <a:pPr algn="l">
              <a:lnSpc>
                <a:spcPts val="4290"/>
              </a:lnSpc>
            </a:pPr>
            <a:r>
              <a:rPr sz="3900" b="1" i="0" u="none">
                <a:solidFill>
                  <a:srgbClr val="FFFFFF"/>
                </a:solidFill>
                <a:latin typeface="Plus Jakarta Sans"/>
              </a:rPr>
              <a:t>CAT 2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33400" y="6296025"/>
            <a:ext cx="111252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1068050" y="419100"/>
            <a:ext cx="590550" cy="276225"/>
          </a:xfrm>
          <a:prstGeom prst="roundRect">
            <a:avLst>
              <a:gd name="adj" fmla="val 5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33400" y="6296025"/>
            <a:ext cx="1112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33400" y="1872555"/>
            <a:ext cx="17868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320230" y="1872555"/>
            <a:ext cx="138261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702843" y="1872555"/>
            <a:ext cx="165913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61979" y="1872555"/>
            <a:ext cx="14038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765875" y="1872555"/>
            <a:ext cx="15101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76034" y="1872555"/>
            <a:ext cx="33825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33400" y="2244030"/>
            <a:ext cx="17868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20230" y="2244030"/>
            <a:ext cx="138261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702843" y="2244030"/>
            <a:ext cx="165913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361979" y="2244030"/>
            <a:ext cx="14038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765875" y="2244030"/>
            <a:ext cx="15101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76034" y="2244030"/>
            <a:ext cx="33825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33400" y="2615505"/>
            <a:ext cx="17868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320230" y="2615505"/>
            <a:ext cx="138261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702843" y="2615505"/>
            <a:ext cx="165913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361979" y="2615505"/>
            <a:ext cx="14038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765875" y="2615505"/>
            <a:ext cx="15101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76034" y="2615505"/>
            <a:ext cx="33825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33400" y="2986980"/>
            <a:ext cx="17868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320230" y="2986980"/>
            <a:ext cx="138261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702843" y="2986980"/>
            <a:ext cx="165913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361979" y="2986980"/>
            <a:ext cx="14038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765875" y="2986980"/>
            <a:ext cx="15101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276034" y="2986980"/>
            <a:ext cx="33825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graphicFrame>
            <p:nvGraphicFramePr>
              <p:cNvPr id="29" name="Table 28"/>
              <p:cNvGraphicFramePr>
                <a:graphicFrameLocks noGrp="1"/>
              </p:cNvGraphicFramePr>
              <p:nvPr>
                <p:extLst>
                  <p:ext uri="{D42A27DB-BD31-4B8C-83A1-F6EECF244321}">
                    <p14:modId xmlns:p14="http://schemas.microsoft.com/office/powerpoint/2010/main" val="2912687158"/>
                  </p:ext>
                </p:extLst>
              </p:nvPr>
            </p:nvGraphicFramePr>
            <p:xfrm>
              <a:off x="533404" y="1044695"/>
              <a:ext cx="11125196" cy="5813305"/>
            </p:xfrm>
            <a:graphic>
              <a:graphicData uri="http://schemas.openxmlformats.org/drawingml/2006/table">
                <a:tbl>
                  <a:tblPr/>
                  <a:tblGrid>
                    <a:gridCol w="991001">
                      <a:extLst>
                        <a:ext uri="{9D8B030D-6E8A-4147-A177-3AD203B41FA5}">
                          <a16:colId xmlns:a16="http://schemas.microsoft.com/office/drawing/2014/main" val="20000"/>
                        </a:ext>
                      </a:extLst>
                    </a:gridCol>
                    <a:gridCol w="991001">
                      <a:extLst>
                        <a:ext uri="{9D8B030D-6E8A-4147-A177-3AD203B41FA5}">
                          <a16:colId xmlns:a16="http://schemas.microsoft.com/office/drawing/2014/main" val="620938473"/>
                        </a:ext>
                      </a:extLst>
                    </a:gridCol>
                    <a:gridCol w="991001">
                      <a:extLst>
                        <a:ext uri="{9D8B030D-6E8A-4147-A177-3AD203B41FA5}">
                          <a16:colId xmlns:a16="http://schemas.microsoft.com/office/drawing/2014/main" val="951234025"/>
                        </a:ext>
                      </a:extLst>
                    </a:gridCol>
                    <a:gridCol w="991001">
                      <a:extLst>
                        <a:ext uri="{9D8B030D-6E8A-4147-A177-3AD203B41FA5}">
                          <a16:colId xmlns:a16="http://schemas.microsoft.com/office/drawing/2014/main" val="993586341"/>
                        </a:ext>
                      </a:extLst>
                    </a:gridCol>
                    <a:gridCol w="991001">
                      <a:extLst>
                        <a:ext uri="{9D8B030D-6E8A-4147-A177-3AD203B41FA5}">
                          <a16:colId xmlns:a16="http://schemas.microsoft.com/office/drawing/2014/main" val="3663133684"/>
                        </a:ext>
                      </a:extLst>
                    </a:gridCol>
                    <a:gridCol w="991001">
                      <a:extLst>
                        <a:ext uri="{9D8B030D-6E8A-4147-A177-3AD203B41FA5}">
                          <a16:colId xmlns:a16="http://schemas.microsoft.com/office/drawing/2014/main" val="2995837557"/>
                        </a:ext>
                      </a:extLst>
                    </a:gridCol>
                    <a:gridCol w="766817">
                      <a:extLst>
                        <a:ext uri="{9D8B030D-6E8A-4147-A177-3AD203B41FA5}">
                          <a16:colId xmlns:a16="http://schemas.microsoft.com/office/drawing/2014/main" val="20001"/>
                        </a:ext>
                      </a:extLst>
                    </a:gridCol>
                    <a:gridCol w="920180">
                      <a:extLst>
                        <a:ext uri="{9D8B030D-6E8A-4147-A177-3AD203B41FA5}">
                          <a16:colId xmlns:a16="http://schemas.microsoft.com/office/drawing/2014/main" val="20002"/>
                        </a:ext>
                      </a:extLst>
                    </a:gridCol>
                    <a:gridCol w="778620">
                      <a:extLst>
                        <a:ext uri="{9D8B030D-6E8A-4147-A177-3AD203B41FA5}">
                          <a16:colId xmlns:a16="http://schemas.microsoft.com/office/drawing/2014/main" val="20003"/>
                        </a:ext>
                      </a:extLst>
                    </a:gridCol>
                    <a:gridCol w="837555">
                      <a:extLst>
                        <a:ext uri="{9D8B030D-6E8A-4147-A177-3AD203B41FA5}">
                          <a16:colId xmlns:a16="http://schemas.microsoft.com/office/drawing/2014/main" val="20004"/>
                        </a:ext>
                      </a:extLst>
                    </a:gridCol>
                    <a:gridCol w="1876018">
                      <a:extLst>
                        <a:ext uri="{9D8B030D-6E8A-4147-A177-3AD203B41FA5}">
                          <a16:colId xmlns:a16="http://schemas.microsoft.com/office/drawing/2014/main" val="20005"/>
                        </a:ext>
                      </a:extLst>
                    </a:gridCol>
                  </a:tblGrid>
                  <a:tr h="225305">
                    <a:tc>
                      <a:txBody>
                        <a:bodyPr/>
                        <a:lstStyle/>
                        <a:p>
                          <a:pPr algn="l"/>
                          <a:r>
                            <a:rPr sz="1050" b="1" i="0" u="none">
                              <a:solidFill>
                                <a:srgbClr val="FFFFFF"/>
                              </a:solidFill>
                              <a:latin typeface="Space Grotesk"/>
                            </a:rPr>
                            <a:t>Text File</a:t>
                          </a: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Mean</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Median</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Mode</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Range</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Standard Deviation</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441917">
                    <a:tc>
                      <a:txBody>
                        <a:bodyPr/>
                        <a:lstStyle/>
                        <a:p>
                          <a:pPr marL="0" marR="0" rtl="0">
                            <a:spcAft>
                              <a:spcPts val="2400"/>
                            </a:spcAft>
                            <a:buNone/>
                          </a:pPr>
                          <a:r>
                            <a:rPr lang="en-US" sz="1100" b="1" dirty="0">
                              <a:solidFill>
                                <a:srgbClr val="1F1F1F"/>
                              </a:solidFill>
                              <a:effectLst/>
                              <a:latin typeface="Google Sans Text"/>
                            </a:rPr>
                            <a:t>Data Set Name</a:t>
                          </a: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Mean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Median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dirty="0">
                              <a:solidFill>
                                <a:srgbClr val="1F1F1F"/>
                              </a:solidFill>
                              <a:effectLst/>
                              <a:latin typeface="Google Sans Text"/>
                            </a:rPr>
                            <a:t>Minimum</a:t>
                          </a: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Maximum</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Range</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Lower Quartile (Q1)</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Upper Quartile (Q3)</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Interquartile Range (IQR)</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Variance</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Standard Deviation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10001"/>
                      </a:ext>
                    </a:extLst>
                  </a:tr>
                  <a:tr h="1132645">
                    <a:tc>
                      <a:txBody>
                        <a:bodyPr/>
                        <a:lstStyle/>
                        <a:p>
                          <a:pPr marL="0" marR="0" rtl="0">
                            <a:spcAft>
                              <a:spcPts val="2400"/>
                            </a:spcAft>
                            <a:buNone/>
                          </a:pPr>
                          <a:r>
                            <a:rPr lang="en-US" sz="1100" b="0" i="0">
                              <a:solidFill>
                                <a:srgbClr val="1F1F1F"/>
                              </a:solidFill>
                              <a:effectLst/>
                              <a:latin typeface="Google Sans Text"/>
                            </a:rPr>
                            <a:t>normal.txt</a:t>
                          </a: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2562074451"/>
                      </a:ext>
                    </a:extLst>
                  </a:tr>
                  <a:tr h="1255194">
                    <a:tc>
                      <a:txBody>
                        <a:bodyPr/>
                        <a:lstStyle/>
                        <a:p>
                          <a:pPr marL="0" marR="0" rtl="0">
                            <a:spcAft>
                              <a:spcPts val="2400"/>
                            </a:spcAft>
                            <a:buNone/>
                          </a:pPr>
                          <a:r>
                            <a:rPr lang="en-US" sz="1100" b="0" i="0">
                              <a:solidFill>
                                <a:srgbClr val="1F1F1F"/>
                              </a:solidFill>
                              <a:effectLst/>
                              <a:latin typeface="Google Sans Text"/>
                            </a:rPr>
                            <a:t>plus_constant.txt</a:t>
                          </a: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2003756055"/>
                      </a:ext>
                    </a:extLst>
                  </a:tr>
                  <a:tr h="1255194">
                    <a:tc>
                      <a:txBody>
                        <a:bodyPr/>
                        <a:lstStyle/>
                        <a:p>
                          <a:pPr marL="0" marR="0" rtl="0">
                            <a:spcAft>
                              <a:spcPts val="2400"/>
                            </a:spcAft>
                            <a:buNone/>
                          </a:pPr>
                          <a:r>
                            <a:rPr lang="en-US" sz="1100" b="0" i="0">
                              <a:solidFill>
                                <a:srgbClr val="1F1F1F"/>
                              </a:solidFill>
                              <a:effectLst/>
                              <a:latin typeface="Google Sans Text"/>
                            </a:rPr>
                            <a:t>times_constant.txt</a:t>
                          </a: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Multiply by 2 (</a:t>
                          </a:r>
                          <a14:m>
                            <m:oMath xmlns:m="http://schemas.openxmlformats.org/officeDocument/2006/math">
                              <m:r>
                                <a:rPr lang="en-US" sz="1100" smtClean="0">
                                  <a:latin typeface="Cambria Math" panose="02040503050406030204" pitchFamily="18" charset="0"/>
                                </a:rPr>
                                <m:t>×</m:t>
                              </m:r>
                              <m:r>
                                <a:rPr lang="en-US" sz="1100" i="0">
                                  <a:latin typeface="Cambria Math" panose="02040503050406030204" pitchFamily="18" charset="0"/>
                                </a:rPr>
                                <m:t>2</m:t>
                              </m:r>
                            </m:oMath>
                          </a14:m>
                          <a:r>
                            <a:rPr lang="en-US" sz="1100">
                              <a:solidFill>
                                <a:srgbClr val="1F1F1F"/>
                              </a:solidFill>
                              <a:effectLst/>
                              <a:latin typeface="Google Sans Text"/>
                            </a:rPr>
                            <a:t>)</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Multiply by 2 (</a:t>
                          </a:r>
                          <a14:m>
                            <m:oMath xmlns:m="http://schemas.openxmlformats.org/officeDocument/2006/math">
                              <m:r>
                                <a:rPr lang="en-US" sz="1100" smtClean="0">
                                  <a:latin typeface="Cambria Math" panose="02040503050406030204" pitchFamily="18" charset="0"/>
                                </a:rPr>
                                <m:t>×</m:t>
                              </m:r>
                              <m:r>
                                <a:rPr lang="en-US" sz="1100" i="0">
                                  <a:latin typeface="Cambria Math" panose="02040503050406030204" pitchFamily="18" charset="0"/>
                                </a:rPr>
                                <m:t>2</m:t>
                              </m:r>
                            </m:oMath>
                          </a14:m>
                          <a:r>
                            <a:rPr lang="en-US" sz="1100">
                              <a:solidFill>
                                <a:srgbClr val="1F1F1F"/>
                              </a:solidFill>
                              <a:effectLst/>
                              <a:latin typeface="Google Sans Text"/>
                            </a:rPr>
                            <a:t>)</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Multiply by 2 (</a:t>
                          </a:r>
                          <a14:m>
                            <m:oMath xmlns:m="http://schemas.openxmlformats.org/officeDocument/2006/math">
                              <m:r>
                                <a:rPr lang="en-US" sz="1100" smtClean="0">
                                  <a:latin typeface="Cambria Math" panose="02040503050406030204" pitchFamily="18" charset="0"/>
                                </a:rPr>
                                <m:t>×</m:t>
                              </m:r>
                              <m:r>
                                <a:rPr lang="en-US" sz="1100" i="0">
                                  <a:latin typeface="Cambria Math" panose="02040503050406030204" pitchFamily="18" charset="0"/>
                                </a:rPr>
                                <m:t>2</m:t>
                              </m:r>
                            </m:oMath>
                          </a14:m>
                          <a:r>
                            <a:rPr lang="en-US" sz="1100">
                              <a:solidFill>
                                <a:srgbClr val="1F1F1F"/>
                              </a:solidFill>
                              <a:effectLst/>
                              <a:latin typeface="Google Sans Text"/>
                            </a:rPr>
                            <a:t>)</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Multiply by 2 (</a:t>
                          </a:r>
                          <a14:m>
                            <m:oMath xmlns:m="http://schemas.openxmlformats.org/officeDocument/2006/math">
                              <m:r>
                                <a:rPr lang="en-US" sz="1100" smtClean="0">
                                  <a:latin typeface="Cambria Math" panose="02040503050406030204" pitchFamily="18" charset="0"/>
                                </a:rPr>
                                <m:t>×</m:t>
                              </m:r>
                              <m:r>
                                <a:rPr lang="en-US" sz="1100" i="0">
                                  <a:latin typeface="Cambria Math" panose="02040503050406030204" pitchFamily="18" charset="0"/>
                                </a:rPr>
                                <m:t>2</m:t>
                              </m:r>
                            </m:oMath>
                          </a14:m>
                          <a:r>
                            <a:rPr lang="en-US" sz="1100">
                              <a:solidFill>
                                <a:srgbClr val="1F1F1F"/>
                              </a:solidFill>
                              <a:effectLst/>
                              <a:latin typeface="Google Sans Text"/>
                            </a:rPr>
                            <a:t>)</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Multiply by 2 (</a:t>
                          </a:r>
                          <a14:m>
                            <m:oMath xmlns:m="http://schemas.openxmlformats.org/officeDocument/2006/math">
                              <m:r>
                                <a:rPr lang="en-US" sz="1100" smtClean="0">
                                  <a:latin typeface="Cambria Math" panose="02040503050406030204" pitchFamily="18" charset="0"/>
                                </a:rPr>
                                <m:t>×</m:t>
                              </m:r>
                              <m:r>
                                <a:rPr lang="en-US" sz="1100" i="0">
                                  <a:latin typeface="Cambria Math" panose="02040503050406030204" pitchFamily="18" charset="0"/>
                                </a:rPr>
                                <m:t>2</m:t>
                              </m:r>
                            </m:oMath>
                          </a14:m>
                          <a:r>
                            <a:rPr lang="en-US" sz="1100">
                              <a:solidFill>
                                <a:srgbClr val="1F1F1F"/>
                              </a:solidFill>
                              <a:effectLst/>
                              <a:latin typeface="Google Sans Text"/>
                            </a:rPr>
                            <a:t>)</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Multiply by 2 (</a:t>
                          </a:r>
                          <a14:m>
                            <m:oMath xmlns:m="http://schemas.openxmlformats.org/officeDocument/2006/math">
                              <m:r>
                                <a:rPr lang="en-US" sz="1100" smtClean="0">
                                  <a:latin typeface="Cambria Math" panose="02040503050406030204" pitchFamily="18" charset="0"/>
                                </a:rPr>
                                <m:t>×</m:t>
                              </m:r>
                              <m:r>
                                <a:rPr lang="en-US" sz="1100" i="0">
                                  <a:latin typeface="Cambria Math" panose="02040503050406030204" pitchFamily="18" charset="0"/>
                                </a:rPr>
                                <m:t>2</m:t>
                              </m:r>
                            </m:oMath>
                          </a14:m>
                          <a:r>
                            <a:rPr lang="en-US" sz="1100">
                              <a:solidFill>
                                <a:srgbClr val="1F1F1F"/>
                              </a:solidFill>
                              <a:effectLst/>
                              <a:latin typeface="Google Sans Text"/>
                            </a:rPr>
                            <a:t>)</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Multiply by 2 (</a:t>
                          </a:r>
                          <a14:m>
                            <m:oMath xmlns:m="http://schemas.openxmlformats.org/officeDocument/2006/math">
                              <m:r>
                                <a:rPr lang="en-US" sz="1100" smtClean="0">
                                  <a:latin typeface="Cambria Math" panose="02040503050406030204" pitchFamily="18" charset="0"/>
                                </a:rPr>
                                <m:t>×</m:t>
                              </m:r>
                              <m:r>
                                <a:rPr lang="en-US" sz="1100" i="0">
                                  <a:latin typeface="Cambria Math" panose="02040503050406030204" pitchFamily="18" charset="0"/>
                                </a:rPr>
                                <m:t>2</m:t>
                              </m:r>
                            </m:oMath>
                          </a14:m>
                          <a:r>
                            <a:rPr lang="en-US" sz="1100">
                              <a:solidFill>
                                <a:srgbClr val="1F1F1F"/>
                              </a:solidFill>
                              <a:effectLst/>
                              <a:latin typeface="Google Sans Text"/>
                            </a:rPr>
                            <a:t>)</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Multiply by 2 (</a:t>
                          </a:r>
                          <a14:m>
                            <m:oMath xmlns:m="http://schemas.openxmlformats.org/officeDocument/2006/math">
                              <m:r>
                                <a:rPr lang="en-US" sz="1100" smtClean="0">
                                  <a:latin typeface="Cambria Math" panose="02040503050406030204" pitchFamily="18" charset="0"/>
                                </a:rPr>
                                <m:t>×</m:t>
                              </m:r>
                              <m:r>
                                <a:rPr lang="en-US" sz="1100" i="0">
                                  <a:latin typeface="Cambria Math" panose="02040503050406030204" pitchFamily="18" charset="0"/>
                                </a:rPr>
                                <m:t>2</m:t>
                              </m:r>
                            </m:oMath>
                          </a14:m>
                          <a:r>
                            <a:rPr lang="en-US" sz="1100">
                              <a:solidFill>
                                <a:srgbClr val="1F1F1F"/>
                              </a:solidFill>
                              <a:effectLst/>
                              <a:latin typeface="Google Sans Text"/>
                            </a:rPr>
                            <a:t>)</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Multiply by 4 (</a:t>
                          </a:r>
                          <a14:m>
                            <m:oMath xmlns:m="http://schemas.openxmlformats.org/officeDocument/2006/math">
                              <m:r>
                                <a:rPr lang="en-US" sz="1100" smtClean="0">
                                  <a:latin typeface="Cambria Math" panose="02040503050406030204" pitchFamily="18" charset="0"/>
                                </a:rPr>
                                <m:t>×</m:t>
                              </m:r>
                              <m:r>
                                <a:rPr lang="en-US" sz="1100" i="0">
                                  <a:latin typeface="Cambria Math" panose="02040503050406030204" pitchFamily="18" charset="0"/>
                                </a:rPr>
                                <m:t>4</m:t>
                              </m:r>
                            </m:oMath>
                          </a14:m>
                          <a:r>
                            <a:rPr lang="en-US" sz="1100">
                              <a:solidFill>
                                <a:srgbClr val="1F1F1F"/>
                              </a:solidFill>
                              <a:effectLst/>
                              <a:latin typeface="Google Sans Text"/>
                            </a:rPr>
                            <a:t>)</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dirty="0">
                              <a:solidFill>
                                <a:srgbClr val="1F1F1F"/>
                              </a:solidFill>
                              <a:effectLst/>
                              <a:latin typeface="Google Sans Text"/>
                            </a:rPr>
                            <a:t>Multiply by 2 (</a:t>
                          </a:r>
                          <a14:m>
                            <m:oMath xmlns:m="http://schemas.openxmlformats.org/officeDocument/2006/math">
                              <m:r>
                                <a:rPr lang="en-US" sz="1100" smtClean="0">
                                  <a:latin typeface="Cambria Math" panose="02040503050406030204" pitchFamily="18" charset="0"/>
                                </a:rPr>
                                <m:t>×</m:t>
                              </m:r>
                              <m:r>
                                <a:rPr lang="en-US" sz="1100" i="0">
                                  <a:latin typeface="Cambria Math" panose="02040503050406030204" pitchFamily="18" charset="0"/>
                                </a:rPr>
                                <m:t>2</m:t>
                              </m:r>
                            </m:oMath>
                          </a14:m>
                          <a:r>
                            <a:rPr lang="en-US" sz="1100" dirty="0">
                              <a:solidFill>
                                <a:srgbClr val="1F1F1F"/>
                              </a:solidFill>
                              <a:effectLst/>
                              <a:latin typeface="Google Sans Text"/>
                            </a:rPr>
                            <a:t>)</a:t>
                          </a: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1351869316"/>
                      </a:ext>
                    </a:extLst>
                  </a:tr>
                </a:tbl>
              </a:graphicData>
            </a:graphic>
          </p:graphicFrame>
        </mc:Choice>
        <mc:Fallback xmlns="">
          <p:graphicFrame>
            <p:nvGraphicFramePr>
              <p:cNvPr id="29" name="Table 28"/>
              <p:cNvGraphicFramePr>
                <a:graphicFrameLocks noGrp="1"/>
              </p:cNvGraphicFramePr>
              <p:nvPr>
                <p:extLst>
                  <p:ext uri="{D42A27DB-BD31-4B8C-83A1-F6EECF244321}">
                    <p14:modId xmlns:p14="http://schemas.microsoft.com/office/powerpoint/2010/main" val="2912687158"/>
                  </p:ext>
                </p:extLst>
              </p:nvPr>
            </p:nvGraphicFramePr>
            <p:xfrm>
              <a:off x="533404" y="1044695"/>
              <a:ext cx="11125196" cy="5813305"/>
            </p:xfrm>
            <a:graphic>
              <a:graphicData uri="http://schemas.openxmlformats.org/drawingml/2006/table">
                <a:tbl>
                  <a:tblPr/>
                  <a:tblGrid>
                    <a:gridCol w="991001">
                      <a:extLst>
                        <a:ext uri="{9D8B030D-6E8A-4147-A177-3AD203B41FA5}">
                          <a16:colId xmlns:a16="http://schemas.microsoft.com/office/drawing/2014/main" val="20000"/>
                        </a:ext>
                      </a:extLst>
                    </a:gridCol>
                    <a:gridCol w="991001">
                      <a:extLst>
                        <a:ext uri="{9D8B030D-6E8A-4147-A177-3AD203B41FA5}">
                          <a16:colId xmlns:a16="http://schemas.microsoft.com/office/drawing/2014/main" val="620938473"/>
                        </a:ext>
                      </a:extLst>
                    </a:gridCol>
                    <a:gridCol w="991001">
                      <a:extLst>
                        <a:ext uri="{9D8B030D-6E8A-4147-A177-3AD203B41FA5}">
                          <a16:colId xmlns:a16="http://schemas.microsoft.com/office/drawing/2014/main" val="951234025"/>
                        </a:ext>
                      </a:extLst>
                    </a:gridCol>
                    <a:gridCol w="991001">
                      <a:extLst>
                        <a:ext uri="{9D8B030D-6E8A-4147-A177-3AD203B41FA5}">
                          <a16:colId xmlns:a16="http://schemas.microsoft.com/office/drawing/2014/main" val="993586341"/>
                        </a:ext>
                      </a:extLst>
                    </a:gridCol>
                    <a:gridCol w="991001">
                      <a:extLst>
                        <a:ext uri="{9D8B030D-6E8A-4147-A177-3AD203B41FA5}">
                          <a16:colId xmlns:a16="http://schemas.microsoft.com/office/drawing/2014/main" val="3663133684"/>
                        </a:ext>
                      </a:extLst>
                    </a:gridCol>
                    <a:gridCol w="991001">
                      <a:extLst>
                        <a:ext uri="{9D8B030D-6E8A-4147-A177-3AD203B41FA5}">
                          <a16:colId xmlns:a16="http://schemas.microsoft.com/office/drawing/2014/main" val="2995837557"/>
                        </a:ext>
                      </a:extLst>
                    </a:gridCol>
                    <a:gridCol w="766817">
                      <a:extLst>
                        <a:ext uri="{9D8B030D-6E8A-4147-A177-3AD203B41FA5}">
                          <a16:colId xmlns:a16="http://schemas.microsoft.com/office/drawing/2014/main" val="20001"/>
                        </a:ext>
                      </a:extLst>
                    </a:gridCol>
                    <a:gridCol w="920180">
                      <a:extLst>
                        <a:ext uri="{9D8B030D-6E8A-4147-A177-3AD203B41FA5}">
                          <a16:colId xmlns:a16="http://schemas.microsoft.com/office/drawing/2014/main" val="20002"/>
                        </a:ext>
                      </a:extLst>
                    </a:gridCol>
                    <a:gridCol w="778620">
                      <a:extLst>
                        <a:ext uri="{9D8B030D-6E8A-4147-A177-3AD203B41FA5}">
                          <a16:colId xmlns:a16="http://schemas.microsoft.com/office/drawing/2014/main" val="20003"/>
                        </a:ext>
                      </a:extLst>
                    </a:gridCol>
                    <a:gridCol w="837555">
                      <a:extLst>
                        <a:ext uri="{9D8B030D-6E8A-4147-A177-3AD203B41FA5}">
                          <a16:colId xmlns:a16="http://schemas.microsoft.com/office/drawing/2014/main" val="20004"/>
                        </a:ext>
                      </a:extLst>
                    </a:gridCol>
                    <a:gridCol w="1876018">
                      <a:extLst>
                        <a:ext uri="{9D8B030D-6E8A-4147-A177-3AD203B41FA5}">
                          <a16:colId xmlns:a16="http://schemas.microsoft.com/office/drawing/2014/main" val="20005"/>
                        </a:ext>
                      </a:extLst>
                    </a:gridCol>
                  </a:tblGrid>
                  <a:tr h="225305">
                    <a:tc>
                      <a:txBody>
                        <a:bodyPr/>
                        <a:lstStyle/>
                        <a:p>
                          <a:pPr algn="l"/>
                          <a:r>
                            <a:rPr sz="1050" b="1" i="0" u="none">
                              <a:solidFill>
                                <a:srgbClr val="FFFFFF"/>
                              </a:solidFill>
                              <a:latin typeface="Space Grotesk"/>
                            </a:rPr>
                            <a:t>Text File</a:t>
                          </a: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Mean</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Median</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Mode</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Range</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Standard Deviation</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604520">
                    <a:tc>
                      <a:txBody>
                        <a:bodyPr/>
                        <a:lstStyle/>
                        <a:p>
                          <a:pPr marL="0" marR="0" rtl="0">
                            <a:spcAft>
                              <a:spcPts val="2400"/>
                            </a:spcAft>
                            <a:buNone/>
                          </a:pPr>
                          <a:r>
                            <a:rPr lang="en-US" sz="1100" b="1" dirty="0">
                              <a:solidFill>
                                <a:srgbClr val="1F1F1F"/>
                              </a:solidFill>
                              <a:effectLst/>
                              <a:latin typeface="Google Sans Text"/>
                            </a:rPr>
                            <a:t>Data Set Name</a:t>
                          </a: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Mean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Median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dirty="0">
                              <a:solidFill>
                                <a:srgbClr val="1F1F1F"/>
                              </a:solidFill>
                              <a:effectLst/>
                              <a:latin typeface="Google Sans Text"/>
                            </a:rPr>
                            <a:t>Minimum</a:t>
                          </a: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Maximum</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Range</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Lower Quartile (Q1)</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Upper Quartile (Q3)</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Interquartile Range (IQR)</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Variance</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Standard Deviation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10001"/>
                      </a:ext>
                    </a:extLst>
                  </a:tr>
                  <a:tr h="1549400">
                    <a:tc>
                      <a:txBody>
                        <a:bodyPr/>
                        <a:lstStyle/>
                        <a:p>
                          <a:pPr marL="0" marR="0" rtl="0">
                            <a:spcAft>
                              <a:spcPts val="2400"/>
                            </a:spcAft>
                            <a:buNone/>
                          </a:pPr>
                          <a:r>
                            <a:rPr lang="en-US" sz="1100" b="0" i="0">
                              <a:solidFill>
                                <a:srgbClr val="1F1F1F"/>
                              </a:solidFill>
                              <a:effectLst/>
                              <a:latin typeface="Google Sans Text"/>
                            </a:rPr>
                            <a:t>normal.txt</a:t>
                          </a: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Baseline Value</a:t>
                          </a: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2562074451"/>
                      </a:ext>
                    </a:extLst>
                  </a:tr>
                  <a:tr h="1717040">
                    <a:tc>
                      <a:txBody>
                        <a:bodyPr/>
                        <a:lstStyle/>
                        <a:p>
                          <a:pPr marL="0" marR="0" rtl="0">
                            <a:spcAft>
                              <a:spcPts val="2400"/>
                            </a:spcAft>
                            <a:buNone/>
                          </a:pPr>
                          <a:r>
                            <a:rPr lang="en-US" sz="1100" b="0" i="0">
                              <a:solidFill>
                                <a:srgbClr val="1F1F1F"/>
                              </a:solidFill>
                              <a:effectLst/>
                              <a:latin typeface="Google Sans Text"/>
                            </a:rPr>
                            <a:t>plus_constant.txt</a:t>
                          </a: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 by +100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2003756055"/>
                      </a:ext>
                    </a:extLst>
                  </a:tr>
                  <a:tr h="1717040">
                    <a:tc>
                      <a:txBody>
                        <a:bodyPr/>
                        <a:lstStyle/>
                        <a:p>
                          <a:pPr marL="0" marR="0" rtl="0">
                            <a:spcAft>
                              <a:spcPts val="2400"/>
                            </a:spcAft>
                            <a:buNone/>
                          </a:pPr>
                          <a:r>
                            <a:rPr lang="en-US" sz="1100" b="0" i="0">
                              <a:solidFill>
                                <a:srgbClr val="1F1F1F"/>
                              </a:solidFill>
                              <a:effectLst/>
                              <a:latin typeface="Google Sans Text"/>
                            </a:rPr>
                            <a:t>times_constant.txt</a:t>
                          </a: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p>
                          <a:pPr marL="0" marR="0" rtl="0">
                            <a:spcAft>
                              <a:spcPts val="2400"/>
                            </a:spcAft>
                            <a:buNone/>
                          </a:pPr>
                          <a:br>
                            <a:rPr lang="en-US" sz="1100">
                              <a:solidFill>
                                <a:srgbClr val="1F1F1F"/>
                              </a:solidFill>
                              <a:effectLst/>
                              <a:latin typeface="Google Sans Text"/>
                            </a:rPr>
                          </a:b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endParaRPr lang="en-US"/>
                        </a:p>
                      </a:txBody>
                      <a:tcPr marL="76200" marR="76200" marT="50800" marB="50800" anchor="ctr">
                        <a:lnL>
                          <a:noFill/>
                        </a:lnL>
                        <a:lnR>
                          <a:noFill/>
                        </a:lnR>
                        <a:lnT>
                          <a:noFill/>
                        </a:lnT>
                        <a:lnB>
                          <a:noFill/>
                        </a:lnB>
                        <a:blipFill>
                          <a:blip r:embed="rId2"/>
                          <a:stretch>
                            <a:fillRect l="-100617" t="-238652" r="-926543"/>
                          </a:stretch>
                        </a:blipFill>
                      </a:tcPr>
                    </a:tc>
                    <a:tc>
                      <a:txBody>
                        <a:bodyPr/>
                        <a:lstStyle/>
                        <a:p>
                          <a:endParaRPr lang="en-US"/>
                        </a:p>
                      </a:txBody>
                      <a:tcPr marL="76200" marR="76200" marT="50800" marB="50800" anchor="ctr">
                        <a:lnL>
                          <a:noFill/>
                        </a:lnL>
                        <a:lnR>
                          <a:noFill/>
                        </a:lnR>
                        <a:lnT>
                          <a:noFill/>
                        </a:lnT>
                        <a:lnB>
                          <a:noFill/>
                        </a:lnB>
                        <a:blipFill>
                          <a:blip r:embed="rId2"/>
                          <a:stretch>
                            <a:fillRect l="-199387" t="-238652" r="-820859"/>
                          </a:stretch>
                        </a:blipFill>
                      </a:tcPr>
                    </a:tc>
                    <a:tc>
                      <a:txBody>
                        <a:bodyPr/>
                        <a:lstStyle/>
                        <a:p>
                          <a:endParaRPr lang="en-US"/>
                        </a:p>
                      </a:txBody>
                      <a:tcPr marL="76200" marR="76200" marT="50800" marB="50800" anchor="ctr">
                        <a:lnL>
                          <a:noFill/>
                        </a:lnL>
                        <a:lnR>
                          <a:noFill/>
                        </a:lnR>
                        <a:lnT>
                          <a:noFill/>
                        </a:lnT>
                        <a:lnB>
                          <a:noFill/>
                        </a:lnB>
                        <a:blipFill>
                          <a:blip r:embed="rId2"/>
                          <a:stretch>
                            <a:fillRect l="-299387" t="-238652" r="-720859"/>
                          </a:stretch>
                        </a:blipFill>
                      </a:tcPr>
                    </a:tc>
                    <a:tc>
                      <a:txBody>
                        <a:bodyPr/>
                        <a:lstStyle/>
                        <a:p>
                          <a:endParaRPr lang="en-US"/>
                        </a:p>
                      </a:txBody>
                      <a:tcPr marL="76200" marR="76200" marT="50800" marB="50800" anchor="ctr">
                        <a:lnL>
                          <a:noFill/>
                        </a:lnL>
                        <a:lnR>
                          <a:noFill/>
                        </a:lnR>
                        <a:lnT>
                          <a:noFill/>
                        </a:lnT>
                        <a:lnB>
                          <a:noFill/>
                        </a:lnB>
                        <a:blipFill>
                          <a:blip r:embed="rId2"/>
                          <a:stretch>
                            <a:fillRect l="-401852" t="-238652" r="-625309"/>
                          </a:stretch>
                        </a:blipFill>
                      </a:tcPr>
                    </a:tc>
                    <a:tc>
                      <a:txBody>
                        <a:bodyPr/>
                        <a:lstStyle/>
                        <a:p>
                          <a:endParaRPr lang="en-US"/>
                        </a:p>
                      </a:txBody>
                      <a:tcPr marL="76200" marR="76200" marT="50800" marB="50800" anchor="ctr">
                        <a:lnL>
                          <a:noFill/>
                        </a:lnL>
                        <a:lnR>
                          <a:noFill/>
                        </a:lnR>
                        <a:lnT>
                          <a:noFill/>
                        </a:lnT>
                        <a:lnB>
                          <a:noFill/>
                        </a:lnB>
                        <a:blipFill>
                          <a:blip r:embed="rId2"/>
                          <a:stretch>
                            <a:fillRect l="-498773" t="-238652" r="-521472"/>
                          </a:stretch>
                        </a:blipFill>
                      </a:tcPr>
                    </a:tc>
                    <a:tc>
                      <a:txBody>
                        <a:bodyPr/>
                        <a:lstStyle/>
                        <a:p>
                          <a:endParaRPr lang="en-US"/>
                        </a:p>
                      </a:txBody>
                      <a:tcPr marL="76200" marR="76200" marT="50800" marB="50800" anchor="ctr">
                        <a:lnL>
                          <a:noFill/>
                        </a:lnL>
                        <a:lnR>
                          <a:noFill/>
                        </a:lnR>
                        <a:lnT>
                          <a:noFill/>
                        </a:lnT>
                        <a:lnB>
                          <a:noFill/>
                        </a:lnB>
                        <a:blipFill>
                          <a:blip r:embed="rId2"/>
                          <a:stretch>
                            <a:fillRect l="-774603" t="-238652" r="-574603"/>
                          </a:stretch>
                        </a:blipFill>
                      </a:tcPr>
                    </a:tc>
                    <a:tc>
                      <a:txBody>
                        <a:bodyPr/>
                        <a:lstStyle/>
                        <a:p>
                          <a:endParaRPr lang="en-US"/>
                        </a:p>
                      </a:txBody>
                      <a:tcPr marL="76200" marR="76200" marT="50800" marB="50800" anchor="ctr">
                        <a:lnL>
                          <a:noFill/>
                        </a:lnL>
                        <a:lnR>
                          <a:noFill/>
                        </a:lnR>
                        <a:lnT>
                          <a:noFill/>
                        </a:lnT>
                        <a:lnB>
                          <a:noFill/>
                        </a:lnB>
                        <a:blipFill>
                          <a:blip r:embed="rId2"/>
                          <a:stretch>
                            <a:fillRect l="-729801" t="-238652" r="-379470"/>
                          </a:stretch>
                        </a:blipFill>
                      </a:tcPr>
                    </a:tc>
                    <a:tc>
                      <a:txBody>
                        <a:bodyPr/>
                        <a:lstStyle/>
                        <a:p>
                          <a:endParaRPr lang="en-US"/>
                        </a:p>
                      </a:txBody>
                      <a:tcPr marL="76200" marR="76200" marT="50800" marB="50800" anchor="ctr">
                        <a:lnL>
                          <a:noFill/>
                        </a:lnL>
                        <a:lnR>
                          <a:noFill/>
                        </a:lnR>
                        <a:lnT>
                          <a:noFill/>
                        </a:lnT>
                        <a:lnB>
                          <a:noFill/>
                        </a:lnB>
                        <a:blipFill>
                          <a:blip r:embed="rId2"/>
                          <a:stretch>
                            <a:fillRect l="-978906" t="-238652" r="-347656"/>
                          </a:stretch>
                        </a:blipFill>
                      </a:tcPr>
                    </a:tc>
                    <a:tc>
                      <a:txBody>
                        <a:bodyPr/>
                        <a:lstStyle/>
                        <a:p>
                          <a:endParaRPr lang="en-US"/>
                        </a:p>
                      </a:txBody>
                      <a:tcPr marL="76200" marR="76200" marT="50800" marB="50800" anchor="ctr">
                        <a:lnL>
                          <a:noFill/>
                        </a:lnL>
                        <a:lnR>
                          <a:noFill/>
                        </a:lnR>
                        <a:lnT>
                          <a:noFill/>
                        </a:lnT>
                        <a:lnB>
                          <a:noFill/>
                        </a:lnB>
                        <a:blipFill>
                          <a:blip r:embed="rId2"/>
                          <a:stretch>
                            <a:fillRect l="-1008029" t="-238652" r="-224818"/>
                          </a:stretch>
                        </a:blipFill>
                      </a:tcPr>
                    </a:tc>
                    <a:tc>
                      <a:txBody>
                        <a:bodyPr/>
                        <a:lstStyle/>
                        <a:p>
                          <a:endParaRPr lang="en-US"/>
                        </a:p>
                      </a:txBody>
                      <a:tcPr marL="76200" marR="76200" marT="50800" marB="50800" anchor="ctr">
                        <a:lnL>
                          <a:noFill/>
                        </a:lnL>
                        <a:lnR>
                          <a:noFill/>
                        </a:lnR>
                        <a:lnT>
                          <a:noFill/>
                        </a:lnT>
                        <a:lnB>
                          <a:noFill/>
                        </a:lnB>
                        <a:blipFill>
                          <a:blip r:embed="rId2"/>
                          <a:stretch>
                            <a:fillRect l="-492857" t="-238652"/>
                          </a:stretch>
                        </a:blipFill>
                      </a:tcPr>
                    </a:tc>
                    <a:extLst>
                      <a:ext uri="{0D108BD9-81ED-4DB2-BD59-A6C34878D82A}">
                        <a16:rowId xmlns:a16="http://schemas.microsoft.com/office/drawing/2014/main" val="1351869316"/>
                      </a:ext>
                    </a:extLst>
                  </a:tr>
                </a:tbl>
              </a:graphicData>
            </a:graphic>
          </p:graphicFrame>
        </mc:Fallback>
      </mc:AlternateContent>
      <p:sp>
        <p:nvSpPr>
          <p:cNvPr id="30" name="TextBox 29"/>
          <p:cNvSpPr txBox="1"/>
          <p:nvPr/>
        </p:nvSpPr>
        <p:spPr>
          <a:xfrm>
            <a:off x="11201400" y="476250"/>
            <a:ext cx="419100" cy="161925"/>
          </a:xfrm>
          <a:prstGeom prst="rect">
            <a:avLst/>
          </a:prstGeom>
          <a:noFill/>
        </p:spPr>
        <p:txBody>
          <a:bodyPr wrap="square" lIns="0" tIns="0" rIns="0" bIns="0" anchor="t">
            <a:spAutoFit/>
          </a:bodyPr>
          <a:lstStyle/>
          <a:p>
            <a:pPr algn="l"/>
            <a:r>
              <a:rPr sz="975" b="1" i="0" u="none">
                <a:solidFill>
                  <a:srgbClr val="2563EB"/>
                </a:solidFill>
                <a:latin typeface="Space Grotesk"/>
              </a:rPr>
              <a:t>Table</a:t>
            </a:r>
          </a:p>
        </p:txBody>
      </p:sp>
      <p:sp>
        <p:nvSpPr>
          <p:cNvPr id="31" name="TextBox 30"/>
          <p:cNvSpPr txBox="1"/>
          <p:nvPr/>
        </p:nvSpPr>
        <p:spPr>
          <a:xfrm>
            <a:off x="533400" y="642937"/>
            <a:ext cx="3437929"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Plus Jakarta Sans"/>
              </a:rPr>
              <a:t>Statistical Measures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F6C78B2-9BFA-956E-2DD5-99D19CB4FF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23CFD7-47E7-3B87-6146-465CFAF19298}"/>
              </a:ext>
            </a:extLst>
          </p:cNvPr>
          <p:cNvSpPr/>
          <p:nvPr/>
        </p:nvSpPr>
        <p:spPr>
          <a:xfrm>
            <a:off x="533400" y="6296025"/>
            <a:ext cx="111252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a:extLst>
              <a:ext uri="{FF2B5EF4-FFF2-40B4-BE49-F238E27FC236}">
                <a16:creationId xmlns:a16="http://schemas.microsoft.com/office/drawing/2014/main" id="{7CF2DADE-4E00-96BF-C70A-4010534F3B88}"/>
              </a:ext>
            </a:extLst>
          </p:cNvPr>
          <p:cNvSpPr/>
          <p:nvPr/>
        </p:nvSpPr>
        <p:spPr>
          <a:xfrm>
            <a:off x="11068050" y="419100"/>
            <a:ext cx="590550" cy="276225"/>
          </a:xfrm>
          <a:prstGeom prst="roundRect">
            <a:avLst>
              <a:gd name="adj" fmla="val 5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7F37A4BF-56DD-CDDE-87C5-19069FCD5FA6}"/>
              </a:ext>
            </a:extLst>
          </p:cNvPr>
          <p:cNvSpPr/>
          <p:nvPr/>
        </p:nvSpPr>
        <p:spPr>
          <a:xfrm>
            <a:off x="533400" y="6296025"/>
            <a:ext cx="1112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789EB291-BD91-4D27-8EEB-92BD5F91A042}"/>
              </a:ext>
            </a:extLst>
          </p:cNvPr>
          <p:cNvSpPr/>
          <p:nvPr/>
        </p:nvSpPr>
        <p:spPr>
          <a:xfrm>
            <a:off x="533400" y="1872555"/>
            <a:ext cx="17868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10DF9192-C721-F788-E61C-B823BABA3781}"/>
              </a:ext>
            </a:extLst>
          </p:cNvPr>
          <p:cNvSpPr/>
          <p:nvPr/>
        </p:nvSpPr>
        <p:spPr>
          <a:xfrm>
            <a:off x="2320230" y="1872555"/>
            <a:ext cx="138261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3BCBBA18-5225-4BDC-18EA-CBAE566DED8D}"/>
              </a:ext>
            </a:extLst>
          </p:cNvPr>
          <p:cNvSpPr/>
          <p:nvPr/>
        </p:nvSpPr>
        <p:spPr>
          <a:xfrm>
            <a:off x="3702843" y="1872555"/>
            <a:ext cx="165913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59B08449-F364-9DDB-B1E8-24D57CFFE032}"/>
              </a:ext>
            </a:extLst>
          </p:cNvPr>
          <p:cNvSpPr/>
          <p:nvPr/>
        </p:nvSpPr>
        <p:spPr>
          <a:xfrm>
            <a:off x="5361979" y="1872555"/>
            <a:ext cx="14038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2DA64288-4978-DEC7-E8F9-A7273AE6A568}"/>
              </a:ext>
            </a:extLst>
          </p:cNvPr>
          <p:cNvSpPr/>
          <p:nvPr/>
        </p:nvSpPr>
        <p:spPr>
          <a:xfrm>
            <a:off x="6765875" y="1872555"/>
            <a:ext cx="15101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55D4442D-BD03-85D8-B406-613895678902}"/>
              </a:ext>
            </a:extLst>
          </p:cNvPr>
          <p:cNvSpPr/>
          <p:nvPr/>
        </p:nvSpPr>
        <p:spPr>
          <a:xfrm>
            <a:off x="8276034" y="1872555"/>
            <a:ext cx="33825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05331A7B-8C1D-5EFF-85C1-57ECD6632298}"/>
              </a:ext>
            </a:extLst>
          </p:cNvPr>
          <p:cNvSpPr/>
          <p:nvPr/>
        </p:nvSpPr>
        <p:spPr>
          <a:xfrm>
            <a:off x="533400" y="2244030"/>
            <a:ext cx="17868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410AFA1D-DC9A-2DBA-20CF-51BD13229546}"/>
              </a:ext>
            </a:extLst>
          </p:cNvPr>
          <p:cNvSpPr/>
          <p:nvPr/>
        </p:nvSpPr>
        <p:spPr>
          <a:xfrm>
            <a:off x="2320230" y="2244030"/>
            <a:ext cx="138261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7124F32-B107-DE1C-01AB-CEBB8A111D9C}"/>
              </a:ext>
            </a:extLst>
          </p:cNvPr>
          <p:cNvSpPr/>
          <p:nvPr/>
        </p:nvSpPr>
        <p:spPr>
          <a:xfrm>
            <a:off x="3702843" y="2244030"/>
            <a:ext cx="165913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C7E5C426-22EB-76BA-FE6F-7A20889EAAFC}"/>
              </a:ext>
            </a:extLst>
          </p:cNvPr>
          <p:cNvSpPr/>
          <p:nvPr/>
        </p:nvSpPr>
        <p:spPr>
          <a:xfrm>
            <a:off x="5361979" y="2244030"/>
            <a:ext cx="14038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EA06F1E8-61D2-B4EA-6070-20977D0A1D7E}"/>
              </a:ext>
            </a:extLst>
          </p:cNvPr>
          <p:cNvSpPr/>
          <p:nvPr/>
        </p:nvSpPr>
        <p:spPr>
          <a:xfrm>
            <a:off x="6765875" y="2244030"/>
            <a:ext cx="15101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D5329F0B-F7BB-120D-133F-BD97B836D0CC}"/>
              </a:ext>
            </a:extLst>
          </p:cNvPr>
          <p:cNvSpPr/>
          <p:nvPr/>
        </p:nvSpPr>
        <p:spPr>
          <a:xfrm>
            <a:off x="8276034" y="2244030"/>
            <a:ext cx="33825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2EA2DA48-7E36-895E-70B5-9329970A43FC}"/>
              </a:ext>
            </a:extLst>
          </p:cNvPr>
          <p:cNvSpPr/>
          <p:nvPr/>
        </p:nvSpPr>
        <p:spPr>
          <a:xfrm>
            <a:off x="533400" y="2615505"/>
            <a:ext cx="17868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E946BF8E-3098-4FAE-669F-18C37D91C07C}"/>
              </a:ext>
            </a:extLst>
          </p:cNvPr>
          <p:cNvSpPr/>
          <p:nvPr/>
        </p:nvSpPr>
        <p:spPr>
          <a:xfrm>
            <a:off x="2320230" y="2615505"/>
            <a:ext cx="138261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379097E8-2853-E897-0722-41E3ABCC4AB8}"/>
              </a:ext>
            </a:extLst>
          </p:cNvPr>
          <p:cNvSpPr/>
          <p:nvPr/>
        </p:nvSpPr>
        <p:spPr>
          <a:xfrm>
            <a:off x="3702843" y="2615505"/>
            <a:ext cx="165913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5B86C115-2D2F-7C28-9844-B83B787775B7}"/>
              </a:ext>
            </a:extLst>
          </p:cNvPr>
          <p:cNvSpPr/>
          <p:nvPr/>
        </p:nvSpPr>
        <p:spPr>
          <a:xfrm>
            <a:off x="5361979" y="2615505"/>
            <a:ext cx="14038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8A04A941-5AB5-AC60-8B2E-CC8B16804680}"/>
              </a:ext>
            </a:extLst>
          </p:cNvPr>
          <p:cNvSpPr/>
          <p:nvPr/>
        </p:nvSpPr>
        <p:spPr>
          <a:xfrm>
            <a:off x="6765875" y="2615505"/>
            <a:ext cx="15101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DA56D5CC-93DE-DC7C-AA5B-F8C234D8B66D}"/>
              </a:ext>
            </a:extLst>
          </p:cNvPr>
          <p:cNvSpPr/>
          <p:nvPr/>
        </p:nvSpPr>
        <p:spPr>
          <a:xfrm>
            <a:off x="8276034" y="2615505"/>
            <a:ext cx="33825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311763BC-DE2D-29D0-9026-3B563CCA1D7E}"/>
              </a:ext>
            </a:extLst>
          </p:cNvPr>
          <p:cNvSpPr/>
          <p:nvPr/>
        </p:nvSpPr>
        <p:spPr>
          <a:xfrm>
            <a:off x="533400" y="2986980"/>
            <a:ext cx="17868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a:extLst>
              <a:ext uri="{FF2B5EF4-FFF2-40B4-BE49-F238E27FC236}">
                <a16:creationId xmlns:a16="http://schemas.microsoft.com/office/drawing/2014/main" id="{0309686C-691D-0546-3CDC-C998F0969BF6}"/>
              </a:ext>
            </a:extLst>
          </p:cNvPr>
          <p:cNvSpPr/>
          <p:nvPr/>
        </p:nvSpPr>
        <p:spPr>
          <a:xfrm>
            <a:off x="2320230" y="2986980"/>
            <a:ext cx="138261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81B75926-3CD4-53F1-F541-62807660449B}"/>
              </a:ext>
            </a:extLst>
          </p:cNvPr>
          <p:cNvSpPr/>
          <p:nvPr/>
        </p:nvSpPr>
        <p:spPr>
          <a:xfrm>
            <a:off x="3702843" y="2986980"/>
            <a:ext cx="165913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a:extLst>
              <a:ext uri="{FF2B5EF4-FFF2-40B4-BE49-F238E27FC236}">
                <a16:creationId xmlns:a16="http://schemas.microsoft.com/office/drawing/2014/main" id="{047AC17C-A6D9-9414-E4BA-DCA00422F61F}"/>
              </a:ext>
            </a:extLst>
          </p:cNvPr>
          <p:cNvSpPr/>
          <p:nvPr/>
        </p:nvSpPr>
        <p:spPr>
          <a:xfrm>
            <a:off x="5361979" y="2986980"/>
            <a:ext cx="14038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5627E194-6BBB-D9A7-EF5D-BC73FD8CE49D}"/>
              </a:ext>
            </a:extLst>
          </p:cNvPr>
          <p:cNvSpPr/>
          <p:nvPr/>
        </p:nvSpPr>
        <p:spPr>
          <a:xfrm>
            <a:off x="6765875" y="2986980"/>
            <a:ext cx="15101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a:extLst>
              <a:ext uri="{FF2B5EF4-FFF2-40B4-BE49-F238E27FC236}">
                <a16:creationId xmlns:a16="http://schemas.microsoft.com/office/drawing/2014/main" id="{D45576C4-2225-CC7C-1CF3-4ED2B7481020}"/>
              </a:ext>
            </a:extLst>
          </p:cNvPr>
          <p:cNvSpPr/>
          <p:nvPr/>
        </p:nvSpPr>
        <p:spPr>
          <a:xfrm>
            <a:off x="8276034" y="2986980"/>
            <a:ext cx="33825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graphicFrame>
            <p:nvGraphicFramePr>
              <p:cNvPr id="29" name="Table 28">
                <a:extLst>
                  <a:ext uri="{FF2B5EF4-FFF2-40B4-BE49-F238E27FC236}">
                    <a16:creationId xmlns:a16="http://schemas.microsoft.com/office/drawing/2014/main" id="{7421A974-C02C-3E4D-4107-4FFCE520F3D8}"/>
                  </a:ext>
                </a:extLst>
              </p:cNvPr>
              <p:cNvGraphicFramePr>
                <a:graphicFrameLocks noGrp="1"/>
              </p:cNvGraphicFramePr>
              <p:nvPr>
                <p:extLst>
                  <p:ext uri="{D42A27DB-BD31-4B8C-83A1-F6EECF244321}">
                    <p14:modId xmlns:p14="http://schemas.microsoft.com/office/powerpoint/2010/main" val="996134004"/>
                  </p:ext>
                </p:extLst>
              </p:nvPr>
            </p:nvGraphicFramePr>
            <p:xfrm>
              <a:off x="501328" y="877055"/>
              <a:ext cx="11125196" cy="5980945"/>
            </p:xfrm>
            <a:graphic>
              <a:graphicData uri="http://schemas.openxmlformats.org/drawingml/2006/table">
                <a:tbl>
                  <a:tblPr/>
                  <a:tblGrid>
                    <a:gridCol w="991001">
                      <a:extLst>
                        <a:ext uri="{9D8B030D-6E8A-4147-A177-3AD203B41FA5}">
                          <a16:colId xmlns:a16="http://schemas.microsoft.com/office/drawing/2014/main" val="20000"/>
                        </a:ext>
                      </a:extLst>
                    </a:gridCol>
                    <a:gridCol w="991001">
                      <a:extLst>
                        <a:ext uri="{9D8B030D-6E8A-4147-A177-3AD203B41FA5}">
                          <a16:colId xmlns:a16="http://schemas.microsoft.com/office/drawing/2014/main" val="620938473"/>
                        </a:ext>
                      </a:extLst>
                    </a:gridCol>
                    <a:gridCol w="991001">
                      <a:extLst>
                        <a:ext uri="{9D8B030D-6E8A-4147-A177-3AD203B41FA5}">
                          <a16:colId xmlns:a16="http://schemas.microsoft.com/office/drawing/2014/main" val="951234025"/>
                        </a:ext>
                      </a:extLst>
                    </a:gridCol>
                    <a:gridCol w="991001">
                      <a:extLst>
                        <a:ext uri="{9D8B030D-6E8A-4147-A177-3AD203B41FA5}">
                          <a16:colId xmlns:a16="http://schemas.microsoft.com/office/drawing/2014/main" val="993586341"/>
                        </a:ext>
                      </a:extLst>
                    </a:gridCol>
                    <a:gridCol w="991001">
                      <a:extLst>
                        <a:ext uri="{9D8B030D-6E8A-4147-A177-3AD203B41FA5}">
                          <a16:colId xmlns:a16="http://schemas.microsoft.com/office/drawing/2014/main" val="3663133684"/>
                        </a:ext>
                      </a:extLst>
                    </a:gridCol>
                    <a:gridCol w="991001">
                      <a:extLst>
                        <a:ext uri="{9D8B030D-6E8A-4147-A177-3AD203B41FA5}">
                          <a16:colId xmlns:a16="http://schemas.microsoft.com/office/drawing/2014/main" val="2995837557"/>
                        </a:ext>
                      </a:extLst>
                    </a:gridCol>
                    <a:gridCol w="766817">
                      <a:extLst>
                        <a:ext uri="{9D8B030D-6E8A-4147-A177-3AD203B41FA5}">
                          <a16:colId xmlns:a16="http://schemas.microsoft.com/office/drawing/2014/main" val="20001"/>
                        </a:ext>
                      </a:extLst>
                    </a:gridCol>
                    <a:gridCol w="920180">
                      <a:extLst>
                        <a:ext uri="{9D8B030D-6E8A-4147-A177-3AD203B41FA5}">
                          <a16:colId xmlns:a16="http://schemas.microsoft.com/office/drawing/2014/main" val="20002"/>
                        </a:ext>
                      </a:extLst>
                    </a:gridCol>
                    <a:gridCol w="778620">
                      <a:extLst>
                        <a:ext uri="{9D8B030D-6E8A-4147-A177-3AD203B41FA5}">
                          <a16:colId xmlns:a16="http://schemas.microsoft.com/office/drawing/2014/main" val="20003"/>
                        </a:ext>
                      </a:extLst>
                    </a:gridCol>
                    <a:gridCol w="837555">
                      <a:extLst>
                        <a:ext uri="{9D8B030D-6E8A-4147-A177-3AD203B41FA5}">
                          <a16:colId xmlns:a16="http://schemas.microsoft.com/office/drawing/2014/main" val="20004"/>
                        </a:ext>
                      </a:extLst>
                    </a:gridCol>
                    <a:gridCol w="1876018">
                      <a:extLst>
                        <a:ext uri="{9D8B030D-6E8A-4147-A177-3AD203B41FA5}">
                          <a16:colId xmlns:a16="http://schemas.microsoft.com/office/drawing/2014/main" val="20005"/>
                        </a:ext>
                      </a:extLst>
                    </a:gridCol>
                  </a:tblGrid>
                  <a:tr h="225305">
                    <a:tc>
                      <a:txBody>
                        <a:bodyPr/>
                        <a:lstStyle/>
                        <a:p>
                          <a:pPr algn="l"/>
                          <a:r>
                            <a:rPr sz="1050" b="1" i="0" u="none">
                              <a:solidFill>
                                <a:srgbClr val="FFFFFF"/>
                              </a:solidFill>
                              <a:latin typeface="Space Grotesk"/>
                            </a:rPr>
                            <a:t>Text File</a:t>
                          </a: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Mean</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Median</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Mode</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Range</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Standard Deviation</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441917">
                    <a:tc>
                      <a:txBody>
                        <a:bodyPr/>
                        <a:lstStyle/>
                        <a:p>
                          <a:pPr marL="0" marR="0" rtl="0">
                            <a:spcAft>
                              <a:spcPts val="2400"/>
                            </a:spcAft>
                            <a:buNone/>
                          </a:pPr>
                          <a:r>
                            <a:rPr lang="en-US" sz="1100" b="1" dirty="0">
                              <a:solidFill>
                                <a:srgbClr val="1F1F1F"/>
                              </a:solidFill>
                              <a:effectLst/>
                              <a:latin typeface="Google Sans Text"/>
                            </a:rPr>
                            <a:t>Data Set Name</a:t>
                          </a: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Mean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Median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dirty="0">
                              <a:solidFill>
                                <a:srgbClr val="1F1F1F"/>
                              </a:solidFill>
                              <a:effectLst/>
                              <a:latin typeface="Google Sans Text"/>
                            </a:rPr>
                            <a:t>Minimum</a:t>
                          </a: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Maximum</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Range</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Lower Quartile (Q1)</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Upper Quartile (Q3)</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Interquartile Range (IQR)</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Variance</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Standard Deviation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10001"/>
                      </a:ext>
                    </a:extLst>
                  </a:tr>
                  <a:tr h="1132645">
                    <a:tc>
                      <a:txBody>
                        <a:bodyPr/>
                        <a:lstStyle/>
                        <a:p>
                          <a:pPr marL="0" marR="0" rtl="0">
                            <a:spcAft>
                              <a:spcPts val="2400"/>
                            </a:spcAft>
                            <a:buNone/>
                          </a:pPr>
                          <a:r>
                            <a:rPr lang="en-US" sz="1100" b="0" i="0" dirty="0">
                              <a:solidFill>
                                <a:srgbClr val="1F1F1F"/>
                              </a:solidFill>
                              <a:effectLst/>
                              <a:latin typeface="Google Sans Text"/>
                            </a:rPr>
                            <a:t>extreme_outlier.txt</a:t>
                          </a: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dirty="0">
                              <a:solidFill>
                                <a:srgbClr val="1F1F1F"/>
                              </a:solidFill>
                              <a:effectLst/>
                              <a:latin typeface="Google Sans Text"/>
                            </a:rPr>
                            <a:t>Increases</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 / Slight</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Set to 10000</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Expands to </a:t>
                          </a:r>
                          <a14:m>
                            <m:oMath xmlns:m="http://schemas.openxmlformats.org/officeDocument/2006/math">
                              <m:r>
                                <a:rPr lang="en-US" sz="1100" smtClean="0">
                                  <a:latin typeface="Cambria Math" panose="02040503050406030204" pitchFamily="18" charset="0"/>
                                </a:rPr>
                                <m:t>10000</m:t>
                              </m:r>
                              <m:r>
                                <a:rPr lang="en-US" sz="1100" i="0">
                                  <a:latin typeface="Cambria Math" panose="02040503050406030204" pitchFamily="18" charset="0"/>
                                </a:rPr>
                                <m:t>−</m:t>
                              </m:r>
                              <m:r>
                                <m:rPr>
                                  <m:nor/>
                                </m:rPr>
                                <a:rPr lang="en-US" sz="1100" i="0">
                                  <a:latin typeface="Cambria Math" panose="02040503050406030204" pitchFamily="18" charset="0"/>
                                </a:rPr>
                                <m:t>Min</m:t>
                              </m:r>
                            </m:oMath>
                          </a14:m>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Increases Significantly</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dirty="0">
                              <a:solidFill>
                                <a:srgbClr val="1F1F1F"/>
                              </a:solidFill>
                              <a:effectLst/>
                              <a:latin typeface="Google Sans Text"/>
                            </a:rPr>
                            <a:t>Increases Significantly</a:t>
                          </a: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2562074451"/>
                      </a:ext>
                    </a:extLst>
                  </a:tr>
                  <a:tr h="1255194">
                    <a:tc>
                      <a:txBody>
                        <a:bodyPr/>
                        <a:lstStyle/>
                        <a:p>
                          <a:pPr marL="0" marR="0" rtl="0">
                            <a:spcAft>
                              <a:spcPts val="2400"/>
                            </a:spcAft>
                            <a:buNone/>
                          </a:pPr>
                          <a:r>
                            <a:rPr lang="en-US" sz="1100" b="0" i="0" dirty="0">
                              <a:solidFill>
                                <a:srgbClr val="1F1F1F"/>
                              </a:solidFill>
                              <a:effectLst/>
                              <a:latin typeface="Google Sans Text"/>
                            </a:rPr>
                            <a:t>duplicated_values.txt</a:t>
                          </a: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dirty="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dirty="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2003756055"/>
                      </a:ext>
                    </a:extLst>
                  </a:tr>
                  <a:tr h="1255194">
                    <a:tc>
                      <a:txBody>
                        <a:bodyPr/>
                        <a:lstStyle/>
                        <a:p>
                          <a:pPr marL="0" marR="0" rtl="0">
                            <a:spcAft>
                              <a:spcPts val="2400"/>
                            </a:spcAft>
                            <a:buNone/>
                          </a:pPr>
                          <a:r>
                            <a:rPr lang="en-US" sz="1100" b="0" i="0" dirty="0">
                              <a:solidFill>
                                <a:srgbClr val="1F1F1F"/>
                              </a:solidFill>
                              <a:effectLst/>
                              <a:latin typeface="Google Sans Text"/>
                            </a:rPr>
                            <a:t>reflected_about_4000.txt</a:t>
                          </a: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Changed to </a:t>
                          </a:r>
                          <a14:m>
                            <m:oMath xmlns:m="http://schemas.openxmlformats.org/officeDocument/2006/math">
                              <m:r>
                                <a:rPr lang="en-US" sz="1100" smtClean="0">
                                  <a:latin typeface="Cambria Math" panose="02040503050406030204" pitchFamily="18" charset="0"/>
                                </a:rPr>
                                <m:t>4000</m:t>
                              </m:r>
                              <m:r>
                                <a:rPr lang="en-US" sz="1100" i="0">
                                  <a:latin typeface="Cambria Math" panose="02040503050406030204" pitchFamily="18" charset="0"/>
                                </a:rPr>
                                <m:t>−</m:t>
                              </m:r>
                              <m:r>
                                <m:rPr>
                                  <m:nor/>
                                </m:rPr>
                                <a:rPr lang="en-US" sz="1100" i="0">
                                  <a:latin typeface="Cambria Math" panose="02040503050406030204" pitchFamily="18" charset="0"/>
                                </a:rPr>
                                <m:t>Mean</m:t>
                              </m:r>
                            </m:oMath>
                          </a14:m>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Changed to </a:t>
                          </a:r>
                          <a14:m>
                            <m:oMath xmlns:m="http://schemas.openxmlformats.org/officeDocument/2006/math">
                              <m:r>
                                <a:rPr lang="en-US" sz="1100" smtClean="0">
                                  <a:latin typeface="Cambria Math" panose="02040503050406030204" pitchFamily="18" charset="0"/>
                                </a:rPr>
                                <m:t>4000</m:t>
                              </m:r>
                              <m:r>
                                <a:rPr lang="en-US" sz="1100" i="0">
                                  <a:latin typeface="Cambria Math" panose="02040503050406030204" pitchFamily="18" charset="0"/>
                                </a:rPr>
                                <m:t>−</m:t>
                              </m:r>
                              <m:r>
                                <m:rPr>
                                  <m:nor/>
                                </m:rPr>
                                <a:rPr lang="en-US" sz="1100" i="0">
                                  <a:latin typeface="Cambria Math" panose="02040503050406030204" pitchFamily="18" charset="0"/>
                                </a:rPr>
                                <m:t>Median</m:t>
                              </m:r>
                            </m:oMath>
                          </a14:m>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Changed to </a:t>
                          </a:r>
                          <a14:m>
                            <m:oMath xmlns:m="http://schemas.openxmlformats.org/officeDocument/2006/math">
                              <m:r>
                                <a:rPr lang="en-US" sz="1100" smtClean="0">
                                  <a:latin typeface="Cambria Math" panose="02040503050406030204" pitchFamily="18" charset="0"/>
                                </a:rPr>
                                <m:t>4000</m:t>
                              </m:r>
                              <m:r>
                                <a:rPr lang="en-US" sz="1100" i="0">
                                  <a:latin typeface="Cambria Math" panose="02040503050406030204" pitchFamily="18" charset="0"/>
                                </a:rPr>
                                <m:t>−</m:t>
                              </m:r>
                              <m:r>
                                <m:rPr>
                                  <m:nor/>
                                </m:rPr>
                                <a:rPr lang="en-US" sz="1100" i="0">
                                  <a:latin typeface="Cambria Math" panose="02040503050406030204" pitchFamily="18" charset="0"/>
                                </a:rPr>
                                <m:t>Max</m:t>
                              </m:r>
                            </m:oMath>
                          </a14:m>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Changed to </a:t>
                          </a:r>
                          <a14:m>
                            <m:oMath xmlns:m="http://schemas.openxmlformats.org/officeDocument/2006/math">
                              <m:r>
                                <a:rPr lang="en-US" sz="1100" smtClean="0">
                                  <a:latin typeface="Cambria Math" panose="02040503050406030204" pitchFamily="18" charset="0"/>
                                </a:rPr>
                                <m:t>4000</m:t>
                              </m:r>
                              <m:r>
                                <a:rPr lang="en-US" sz="1100" i="0">
                                  <a:latin typeface="Cambria Math" panose="02040503050406030204" pitchFamily="18" charset="0"/>
                                </a:rPr>
                                <m:t>−</m:t>
                              </m:r>
                              <m:r>
                                <m:rPr>
                                  <m:nor/>
                                </m:rPr>
                                <a:rPr lang="en-US" sz="1100" i="0">
                                  <a:latin typeface="Cambria Math" panose="02040503050406030204" pitchFamily="18" charset="0"/>
                                </a:rPr>
                                <m:t>Min</m:t>
                              </m:r>
                            </m:oMath>
                          </a14:m>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Changed to </a:t>
                          </a:r>
                          <a14:m>
                            <m:oMath xmlns:m="http://schemas.openxmlformats.org/officeDocument/2006/math">
                              <m:r>
                                <a:rPr lang="en-US" sz="1100" smtClean="0">
                                  <a:latin typeface="Cambria Math" panose="02040503050406030204" pitchFamily="18" charset="0"/>
                                </a:rPr>
                                <m:t>4000</m:t>
                              </m:r>
                              <m:r>
                                <a:rPr lang="en-US" sz="1100" i="0">
                                  <a:latin typeface="Cambria Math" panose="02040503050406030204" pitchFamily="18" charset="0"/>
                                </a:rPr>
                                <m:t>−</m:t>
                              </m:r>
                              <m:r>
                                <m:rPr>
                                  <m:nor/>
                                </m:rPr>
                                <a:rPr lang="en-US" sz="1100" i="0">
                                  <a:latin typeface="Cambria Math" panose="02040503050406030204" pitchFamily="18" charset="0"/>
                                </a:rPr>
                                <m:t>Q3</m:t>
                              </m:r>
                            </m:oMath>
                          </a14:m>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Changed to </a:t>
                          </a:r>
                          <a14:m>
                            <m:oMath xmlns:m="http://schemas.openxmlformats.org/officeDocument/2006/math">
                              <m:r>
                                <a:rPr lang="en-US" sz="1100" smtClean="0">
                                  <a:latin typeface="Cambria Math" panose="02040503050406030204" pitchFamily="18" charset="0"/>
                                </a:rPr>
                                <m:t>4000</m:t>
                              </m:r>
                              <m:r>
                                <a:rPr lang="en-US" sz="1100" i="0">
                                  <a:latin typeface="Cambria Math" panose="02040503050406030204" pitchFamily="18" charset="0"/>
                                </a:rPr>
                                <m:t>−</m:t>
                              </m:r>
                              <m:r>
                                <m:rPr>
                                  <m:nor/>
                                </m:rPr>
                                <a:rPr lang="en-US" sz="1100" i="0">
                                  <a:latin typeface="Cambria Math" panose="02040503050406030204" pitchFamily="18" charset="0"/>
                                </a:rPr>
                                <m:t>Q1</m:t>
                              </m:r>
                            </m:oMath>
                          </a14:m>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dirty="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1351869316"/>
                      </a:ext>
                    </a:extLst>
                  </a:tr>
                </a:tbl>
              </a:graphicData>
            </a:graphic>
          </p:graphicFrame>
        </mc:Choice>
        <mc:Fallback xmlns="">
          <p:graphicFrame>
            <p:nvGraphicFramePr>
              <p:cNvPr id="29" name="Table 28">
                <a:extLst>
                  <a:ext uri="{FF2B5EF4-FFF2-40B4-BE49-F238E27FC236}">
                    <a16:creationId xmlns:a16="http://schemas.microsoft.com/office/drawing/2014/main" id="{7421A974-C02C-3E4D-4107-4FFCE520F3D8}"/>
                  </a:ext>
                </a:extLst>
              </p:cNvPr>
              <p:cNvGraphicFramePr>
                <a:graphicFrameLocks noGrp="1"/>
              </p:cNvGraphicFramePr>
              <p:nvPr>
                <p:extLst>
                  <p:ext uri="{D42A27DB-BD31-4B8C-83A1-F6EECF244321}">
                    <p14:modId xmlns:p14="http://schemas.microsoft.com/office/powerpoint/2010/main" val="996134004"/>
                  </p:ext>
                </p:extLst>
              </p:nvPr>
            </p:nvGraphicFramePr>
            <p:xfrm>
              <a:off x="501328" y="877055"/>
              <a:ext cx="11125196" cy="5980945"/>
            </p:xfrm>
            <a:graphic>
              <a:graphicData uri="http://schemas.openxmlformats.org/drawingml/2006/table">
                <a:tbl>
                  <a:tblPr/>
                  <a:tblGrid>
                    <a:gridCol w="991001">
                      <a:extLst>
                        <a:ext uri="{9D8B030D-6E8A-4147-A177-3AD203B41FA5}">
                          <a16:colId xmlns:a16="http://schemas.microsoft.com/office/drawing/2014/main" val="20000"/>
                        </a:ext>
                      </a:extLst>
                    </a:gridCol>
                    <a:gridCol w="991001">
                      <a:extLst>
                        <a:ext uri="{9D8B030D-6E8A-4147-A177-3AD203B41FA5}">
                          <a16:colId xmlns:a16="http://schemas.microsoft.com/office/drawing/2014/main" val="620938473"/>
                        </a:ext>
                      </a:extLst>
                    </a:gridCol>
                    <a:gridCol w="991001">
                      <a:extLst>
                        <a:ext uri="{9D8B030D-6E8A-4147-A177-3AD203B41FA5}">
                          <a16:colId xmlns:a16="http://schemas.microsoft.com/office/drawing/2014/main" val="951234025"/>
                        </a:ext>
                      </a:extLst>
                    </a:gridCol>
                    <a:gridCol w="991001">
                      <a:extLst>
                        <a:ext uri="{9D8B030D-6E8A-4147-A177-3AD203B41FA5}">
                          <a16:colId xmlns:a16="http://schemas.microsoft.com/office/drawing/2014/main" val="993586341"/>
                        </a:ext>
                      </a:extLst>
                    </a:gridCol>
                    <a:gridCol w="991001">
                      <a:extLst>
                        <a:ext uri="{9D8B030D-6E8A-4147-A177-3AD203B41FA5}">
                          <a16:colId xmlns:a16="http://schemas.microsoft.com/office/drawing/2014/main" val="3663133684"/>
                        </a:ext>
                      </a:extLst>
                    </a:gridCol>
                    <a:gridCol w="991001">
                      <a:extLst>
                        <a:ext uri="{9D8B030D-6E8A-4147-A177-3AD203B41FA5}">
                          <a16:colId xmlns:a16="http://schemas.microsoft.com/office/drawing/2014/main" val="2995837557"/>
                        </a:ext>
                      </a:extLst>
                    </a:gridCol>
                    <a:gridCol w="766817">
                      <a:extLst>
                        <a:ext uri="{9D8B030D-6E8A-4147-A177-3AD203B41FA5}">
                          <a16:colId xmlns:a16="http://schemas.microsoft.com/office/drawing/2014/main" val="20001"/>
                        </a:ext>
                      </a:extLst>
                    </a:gridCol>
                    <a:gridCol w="920180">
                      <a:extLst>
                        <a:ext uri="{9D8B030D-6E8A-4147-A177-3AD203B41FA5}">
                          <a16:colId xmlns:a16="http://schemas.microsoft.com/office/drawing/2014/main" val="20002"/>
                        </a:ext>
                      </a:extLst>
                    </a:gridCol>
                    <a:gridCol w="778620">
                      <a:extLst>
                        <a:ext uri="{9D8B030D-6E8A-4147-A177-3AD203B41FA5}">
                          <a16:colId xmlns:a16="http://schemas.microsoft.com/office/drawing/2014/main" val="20003"/>
                        </a:ext>
                      </a:extLst>
                    </a:gridCol>
                    <a:gridCol w="837555">
                      <a:extLst>
                        <a:ext uri="{9D8B030D-6E8A-4147-A177-3AD203B41FA5}">
                          <a16:colId xmlns:a16="http://schemas.microsoft.com/office/drawing/2014/main" val="20004"/>
                        </a:ext>
                      </a:extLst>
                    </a:gridCol>
                    <a:gridCol w="1876018">
                      <a:extLst>
                        <a:ext uri="{9D8B030D-6E8A-4147-A177-3AD203B41FA5}">
                          <a16:colId xmlns:a16="http://schemas.microsoft.com/office/drawing/2014/main" val="20005"/>
                        </a:ext>
                      </a:extLst>
                    </a:gridCol>
                  </a:tblGrid>
                  <a:tr h="225305">
                    <a:tc>
                      <a:txBody>
                        <a:bodyPr/>
                        <a:lstStyle/>
                        <a:p>
                          <a:pPr algn="l"/>
                          <a:r>
                            <a:rPr sz="1050" b="1" i="0" u="none">
                              <a:solidFill>
                                <a:srgbClr val="FFFFFF"/>
                              </a:solidFill>
                              <a:latin typeface="Space Grotesk"/>
                            </a:rPr>
                            <a:t>Text File</a:t>
                          </a: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endParaRPr sz="1050" b="1" i="0" u="none">
                            <a:solidFill>
                              <a:srgbClr val="FFFFFF"/>
                            </a:solidFill>
                            <a:latin typeface="Space Grotesk"/>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Mean</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Median</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Mode</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Range</a:t>
                          </a: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Space Grotesk"/>
                            </a:rPr>
                            <a:t>Standard Deviation</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604520">
                    <a:tc>
                      <a:txBody>
                        <a:bodyPr/>
                        <a:lstStyle/>
                        <a:p>
                          <a:pPr marL="0" marR="0" rtl="0">
                            <a:spcAft>
                              <a:spcPts val="2400"/>
                            </a:spcAft>
                            <a:buNone/>
                          </a:pPr>
                          <a:r>
                            <a:rPr lang="en-US" sz="1100" b="1" dirty="0">
                              <a:solidFill>
                                <a:srgbClr val="1F1F1F"/>
                              </a:solidFill>
                              <a:effectLst/>
                              <a:latin typeface="Google Sans Text"/>
                            </a:rPr>
                            <a:t>Data Set Name</a:t>
                          </a: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Mean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Median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dirty="0">
                              <a:solidFill>
                                <a:srgbClr val="1F1F1F"/>
                              </a:solidFill>
                              <a:effectLst/>
                              <a:latin typeface="Google Sans Text"/>
                            </a:rPr>
                            <a:t>Minimum</a:t>
                          </a: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Maximum</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Range</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Lower Quartile (Q1)</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Upper Quartile (Q3)</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Interquartile Range (IQR)</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Variance</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b="1">
                              <a:solidFill>
                                <a:srgbClr val="1F1F1F"/>
                              </a:solidFill>
                              <a:effectLst/>
                              <a:latin typeface="Google Sans Text"/>
                            </a:rPr>
                            <a:t>Standard Deviation</a:t>
                          </a:r>
                          <a:endParaRPr lang="en-US" sz="110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10001"/>
                      </a:ext>
                    </a:extLst>
                  </a:tr>
                  <a:tr h="1717040">
                    <a:tc>
                      <a:txBody>
                        <a:bodyPr/>
                        <a:lstStyle/>
                        <a:p>
                          <a:pPr marL="0" marR="0" rtl="0">
                            <a:spcAft>
                              <a:spcPts val="2400"/>
                            </a:spcAft>
                            <a:buNone/>
                          </a:pPr>
                          <a:r>
                            <a:rPr lang="en-US" sz="1100" b="0" i="0" dirty="0">
                              <a:solidFill>
                                <a:srgbClr val="1F1F1F"/>
                              </a:solidFill>
                              <a:effectLst/>
                              <a:latin typeface="Google Sans Text"/>
                            </a:rPr>
                            <a:t>extreme_outlier.txt</a:t>
                          </a: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dirty="0">
                              <a:solidFill>
                                <a:srgbClr val="1F1F1F"/>
                              </a:solidFill>
                              <a:effectLst/>
                              <a:latin typeface="Google Sans Text"/>
                            </a:rPr>
                            <a:t>Increases</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 / Slight</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Set to 10000</a:t>
                          </a:r>
                        </a:p>
                      </a:txBody>
                      <a:tcPr marL="76200" marR="76200" marT="50800" marB="50800" anchor="ctr">
                        <a:lnL>
                          <a:noFill/>
                        </a:lnL>
                        <a:lnR>
                          <a:noFill/>
                        </a:lnR>
                        <a:lnT>
                          <a:noFill/>
                        </a:lnT>
                        <a:lnB>
                          <a:noFill/>
                        </a:lnB>
                        <a:solidFill>
                          <a:srgbClr val="FFFFFF"/>
                        </a:solidFill>
                      </a:tcPr>
                    </a:tc>
                    <a:tc>
                      <a:txBody>
                        <a:bodyPr/>
                        <a:lstStyle/>
                        <a:p>
                          <a:endParaRPr lang="en-US"/>
                        </a:p>
                      </a:txBody>
                      <a:tcPr marL="76200" marR="76200" marT="50800" marB="50800" anchor="ctr">
                        <a:lnL>
                          <a:noFill/>
                        </a:lnL>
                        <a:lnR>
                          <a:noFill/>
                        </a:lnR>
                        <a:lnT>
                          <a:noFill/>
                        </a:lnT>
                        <a:lnB>
                          <a:noFill/>
                        </a:lnB>
                        <a:blipFill>
                          <a:blip r:embed="rId2"/>
                          <a:stretch>
                            <a:fillRect l="-498773" t="-48582" r="-521472" b="-200000"/>
                          </a:stretch>
                        </a:blip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Increases Significantly</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dirty="0">
                              <a:solidFill>
                                <a:srgbClr val="1F1F1F"/>
                              </a:solidFill>
                              <a:effectLst/>
                              <a:latin typeface="Google Sans Text"/>
                            </a:rPr>
                            <a:t>Increases Significantly</a:t>
                          </a: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2562074451"/>
                      </a:ext>
                    </a:extLst>
                  </a:tr>
                  <a:tr h="1717040">
                    <a:tc>
                      <a:txBody>
                        <a:bodyPr/>
                        <a:lstStyle/>
                        <a:p>
                          <a:pPr marL="0" marR="0" rtl="0">
                            <a:spcAft>
                              <a:spcPts val="2400"/>
                            </a:spcAft>
                            <a:buNone/>
                          </a:pPr>
                          <a:r>
                            <a:rPr lang="en-US" sz="1100" b="0" i="0" dirty="0">
                              <a:solidFill>
                                <a:srgbClr val="1F1F1F"/>
                              </a:solidFill>
                              <a:effectLst/>
                              <a:latin typeface="Google Sans Text"/>
                            </a:rPr>
                            <a:t>duplicated_values.txt</a:t>
                          </a: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dirty="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dirty="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2003756055"/>
                      </a:ext>
                    </a:extLst>
                  </a:tr>
                  <a:tr h="1717040">
                    <a:tc>
                      <a:txBody>
                        <a:bodyPr/>
                        <a:lstStyle/>
                        <a:p>
                          <a:pPr marL="0" marR="0" rtl="0">
                            <a:spcAft>
                              <a:spcPts val="2400"/>
                            </a:spcAft>
                            <a:buNone/>
                          </a:pPr>
                          <a:r>
                            <a:rPr lang="en-US" sz="1100" b="0" i="0" dirty="0">
                              <a:solidFill>
                                <a:srgbClr val="1F1F1F"/>
                              </a:solidFill>
                              <a:effectLst/>
                              <a:latin typeface="Google Sans Text"/>
                            </a:rPr>
                            <a:t>reflected_about_4000.txt</a:t>
                          </a: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p>
                          <a:pPr marL="0" marR="0" rtl="0">
                            <a:spcAft>
                              <a:spcPts val="2400"/>
                            </a:spcAft>
                            <a:buNone/>
                          </a:pPr>
                          <a:br>
                            <a:rPr lang="en-US" sz="1100" dirty="0">
                              <a:solidFill>
                                <a:srgbClr val="1F1F1F"/>
                              </a:solidFill>
                              <a:effectLst/>
                              <a:latin typeface="Google Sans Text"/>
                            </a:rPr>
                          </a:br>
                          <a:endParaRPr lang="en-US" sz="1100" dirty="0">
                            <a:solidFill>
                              <a:srgbClr val="1F1F1F"/>
                            </a:solidFill>
                            <a:effectLst/>
                            <a:latin typeface="Google Sans Text"/>
                          </a:endParaRPr>
                        </a:p>
                      </a:txBody>
                      <a:tcPr marL="76200" marR="76200" marT="50800" marB="50800" anchor="ctr">
                        <a:lnL>
                          <a:noFill/>
                        </a:lnL>
                        <a:lnR>
                          <a:noFill/>
                        </a:lnR>
                        <a:lnT>
                          <a:noFill/>
                        </a:lnT>
                        <a:lnB>
                          <a:noFill/>
                        </a:lnB>
                        <a:solidFill>
                          <a:srgbClr val="FFFFFF"/>
                        </a:solidFill>
                      </a:tcPr>
                    </a:tc>
                    <a:tc>
                      <a:txBody>
                        <a:bodyPr/>
                        <a:lstStyle/>
                        <a:p>
                          <a:endParaRPr lang="en-US"/>
                        </a:p>
                      </a:txBody>
                      <a:tcPr marL="76200" marR="76200" marT="50800" marB="50800" anchor="ctr">
                        <a:lnL>
                          <a:noFill/>
                        </a:lnL>
                        <a:lnR>
                          <a:noFill/>
                        </a:lnR>
                        <a:lnT>
                          <a:noFill/>
                        </a:lnT>
                        <a:lnB>
                          <a:noFill/>
                        </a:lnB>
                        <a:blipFill>
                          <a:blip r:embed="rId2"/>
                          <a:stretch>
                            <a:fillRect l="-100617" t="-248582" r="-926543"/>
                          </a:stretch>
                        </a:blipFill>
                      </a:tcPr>
                    </a:tc>
                    <a:tc>
                      <a:txBody>
                        <a:bodyPr/>
                        <a:lstStyle/>
                        <a:p>
                          <a:endParaRPr lang="en-US"/>
                        </a:p>
                      </a:txBody>
                      <a:tcPr marL="76200" marR="76200" marT="50800" marB="50800" anchor="ctr">
                        <a:lnL>
                          <a:noFill/>
                        </a:lnL>
                        <a:lnR>
                          <a:noFill/>
                        </a:lnR>
                        <a:lnT>
                          <a:noFill/>
                        </a:lnT>
                        <a:lnB>
                          <a:noFill/>
                        </a:lnB>
                        <a:blipFill>
                          <a:blip r:embed="rId2"/>
                          <a:stretch>
                            <a:fillRect l="-199387" t="-248582" r="-820859"/>
                          </a:stretch>
                        </a:blipFill>
                      </a:tcPr>
                    </a:tc>
                    <a:tc>
                      <a:txBody>
                        <a:bodyPr/>
                        <a:lstStyle/>
                        <a:p>
                          <a:endParaRPr lang="en-US"/>
                        </a:p>
                      </a:txBody>
                      <a:tcPr marL="76200" marR="76200" marT="50800" marB="50800" anchor="ctr">
                        <a:lnL>
                          <a:noFill/>
                        </a:lnL>
                        <a:lnR>
                          <a:noFill/>
                        </a:lnR>
                        <a:lnT>
                          <a:noFill/>
                        </a:lnT>
                        <a:lnB>
                          <a:noFill/>
                        </a:lnB>
                        <a:blipFill>
                          <a:blip r:embed="rId2"/>
                          <a:stretch>
                            <a:fillRect l="-299387" t="-248582" r="-720859"/>
                          </a:stretch>
                        </a:blipFill>
                      </a:tcPr>
                    </a:tc>
                    <a:tc>
                      <a:txBody>
                        <a:bodyPr/>
                        <a:lstStyle/>
                        <a:p>
                          <a:endParaRPr lang="en-US"/>
                        </a:p>
                      </a:txBody>
                      <a:tcPr marL="76200" marR="76200" marT="50800" marB="50800" anchor="ctr">
                        <a:lnL>
                          <a:noFill/>
                        </a:lnL>
                        <a:lnR>
                          <a:noFill/>
                        </a:lnR>
                        <a:lnT>
                          <a:noFill/>
                        </a:lnT>
                        <a:lnB>
                          <a:noFill/>
                        </a:lnB>
                        <a:blipFill>
                          <a:blip r:embed="rId2"/>
                          <a:stretch>
                            <a:fillRect l="-401852" t="-248582" r="-625309"/>
                          </a:stretch>
                        </a:blip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endParaRPr lang="en-US"/>
                        </a:p>
                      </a:txBody>
                      <a:tcPr marL="76200" marR="76200" marT="50800" marB="50800" anchor="ctr">
                        <a:lnL>
                          <a:noFill/>
                        </a:lnL>
                        <a:lnR>
                          <a:noFill/>
                        </a:lnR>
                        <a:lnT>
                          <a:noFill/>
                        </a:lnT>
                        <a:lnB>
                          <a:noFill/>
                        </a:lnB>
                        <a:blipFill>
                          <a:blip r:embed="rId2"/>
                          <a:stretch>
                            <a:fillRect l="-774603" t="-248582" r="-574603"/>
                          </a:stretch>
                        </a:blipFill>
                      </a:tcPr>
                    </a:tc>
                    <a:tc>
                      <a:txBody>
                        <a:bodyPr/>
                        <a:lstStyle/>
                        <a:p>
                          <a:endParaRPr lang="en-US"/>
                        </a:p>
                      </a:txBody>
                      <a:tcPr marL="76200" marR="76200" marT="50800" marB="50800" anchor="ctr">
                        <a:lnL>
                          <a:noFill/>
                        </a:lnL>
                        <a:lnR>
                          <a:noFill/>
                        </a:lnR>
                        <a:lnT>
                          <a:noFill/>
                        </a:lnT>
                        <a:lnB>
                          <a:noFill/>
                        </a:lnB>
                        <a:blipFill>
                          <a:blip r:embed="rId2"/>
                          <a:stretch>
                            <a:fillRect l="-729801" t="-248582" r="-379470"/>
                          </a:stretch>
                        </a:blip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tc>
                      <a:txBody>
                        <a:bodyPr/>
                        <a:lstStyle/>
                        <a:p>
                          <a:pPr marL="0" marR="0" rtl="0">
                            <a:spcAft>
                              <a:spcPts val="2400"/>
                            </a:spcAft>
                            <a:buNone/>
                          </a:pPr>
                          <a:r>
                            <a:rPr lang="en-US" sz="1100" dirty="0">
                              <a:solidFill>
                                <a:srgbClr val="1F1F1F"/>
                              </a:solidFill>
                              <a:effectLst/>
                              <a:latin typeface="Google Sans Text"/>
                            </a:rPr>
                            <a:t>No Change</a:t>
                          </a:r>
                        </a:p>
                      </a:txBody>
                      <a:tcPr marL="76200" marR="76200" marT="50800" marB="50800" anchor="ctr">
                        <a:lnL>
                          <a:noFill/>
                        </a:lnL>
                        <a:lnR>
                          <a:noFill/>
                        </a:lnR>
                        <a:lnT>
                          <a:noFill/>
                        </a:lnT>
                        <a:lnB>
                          <a:noFill/>
                        </a:lnB>
                        <a:solidFill>
                          <a:srgbClr val="FFFFFF"/>
                        </a:solidFill>
                      </a:tcPr>
                    </a:tc>
                    <a:extLst>
                      <a:ext uri="{0D108BD9-81ED-4DB2-BD59-A6C34878D82A}">
                        <a16:rowId xmlns:a16="http://schemas.microsoft.com/office/drawing/2014/main" val="1351869316"/>
                      </a:ext>
                    </a:extLst>
                  </a:tr>
                </a:tbl>
              </a:graphicData>
            </a:graphic>
          </p:graphicFrame>
        </mc:Fallback>
      </mc:AlternateContent>
      <p:sp>
        <p:nvSpPr>
          <p:cNvPr id="30" name="TextBox 29">
            <a:extLst>
              <a:ext uri="{FF2B5EF4-FFF2-40B4-BE49-F238E27FC236}">
                <a16:creationId xmlns:a16="http://schemas.microsoft.com/office/drawing/2014/main" id="{E166D48C-0DF5-415D-79DE-2647584E218D}"/>
              </a:ext>
            </a:extLst>
          </p:cNvPr>
          <p:cNvSpPr txBox="1"/>
          <p:nvPr/>
        </p:nvSpPr>
        <p:spPr>
          <a:xfrm>
            <a:off x="11201400" y="476250"/>
            <a:ext cx="419100" cy="161925"/>
          </a:xfrm>
          <a:prstGeom prst="rect">
            <a:avLst/>
          </a:prstGeom>
          <a:noFill/>
        </p:spPr>
        <p:txBody>
          <a:bodyPr wrap="square" lIns="0" tIns="0" rIns="0" bIns="0" anchor="t">
            <a:spAutoFit/>
          </a:bodyPr>
          <a:lstStyle/>
          <a:p>
            <a:pPr algn="l"/>
            <a:r>
              <a:rPr sz="975" b="1" i="0" u="none">
                <a:solidFill>
                  <a:srgbClr val="2563EB"/>
                </a:solidFill>
                <a:latin typeface="Space Grotesk"/>
              </a:rPr>
              <a:t>Table</a:t>
            </a:r>
          </a:p>
        </p:txBody>
      </p:sp>
      <p:sp>
        <p:nvSpPr>
          <p:cNvPr id="31" name="TextBox 30">
            <a:extLst>
              <a:ext uri="{FF2B5EF4-FFF2-40B4-BE49-F238E27FC236}">
                <a16:creationId xmlns:a16="http://schemas.microsoft.com/office/drawing/2014/main" id="{3310827A-9F22-BD33-05AC-6079664C1C0B}"/>
              </a:ext>
            </a:extLst>
          </p:cNvPr>
          <p:cNvSpPr txBox="1"/>
          <p:nvPr/>
        </p:nvSpPr>
        <p:spPr>
          <a:xfrm>
            <a:off x="533400" y="552450"/>
            <a:ext cx="3437929" cy="319980"/>
          </a:xfrm>
          <a:prstGeom prst="rect">
            <a:avLst/>
          </a:prstGeom>
          <a:noFill/>
        </p:spPr>
        <p:txBody>
          <a:bodyPr wrap="none" lIns="0" tIns="0" rIns="0" bIns="0" anchor="t">
            <a:spAutoFit/>
          </a:bodyPr>
          <a:lstStyle/>
          <a:p>
            <a:pPr algn="l">
              <a:lnSpc>
                <a:spcPts val="2520"/>
              </a:lnSpc>
            </a:pPr>
            <a:r>
              <a:rPr sz="2100" b="1" i="0" u="none" dirty="0">
                <a:solidFill>
                  <a:srgbClr val="0F172A"/>
                </a:solidFill>
                <a:latin typeface="Plus Jakarta Sans"/>
              </a:rPr>
              <a:t>Statistical Measures</a:t>
            </a:r>
          </a:p>
        </p:txBody>
      </p:sp>
    </p:spTree>
    <p:extLst>
      <p:ext uri="{BB962C8B-B14F-4D97-AF65-F5344CB8AC3E}">
        <p14:creationId xmlns:p14="http://schemas.microsoft.com/office/powerpoint/2010/main" val="1130214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33400" y="6296025"/>
            <a:ext cx="111252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687050" y="419100"/>
            <a:ext cx="971550" cy="276225"/>
          </a:xfrm>
          <a:prstGeom prst="roundRect">
            <a:avLst>
              <a:gd name="adj" fmla="val 5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33400" y="1153417"/>
            <a:ext cx="11125200" cy="5142607"/>
          </a:xfrm>
          <a:prstGeom prst="roundRect">
            <a:avLst>
              <a:gd name="adj" fmla="val 2593"/>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33400" y="6296025"/>
            <a:ext cx="1112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20400" y="476250"/>
            <a:ext cx="800100" cy="161925"/>
          </a:xfrm>
          <a:prstGeom prst="rect">
            <a:avLst/>
          </a:prstGeom>
          <a:noFill/>
        </p:spPr>
        <p:txBody>
          <a:bodyPr wrap="square" lIns="0" tIns="0" rIns="0" bIns="0" anchor="t">
            <a:spAutoFit/>
          </a:bodyPr>
          <a:lstStyle/>
          <a:p>
            <a:pPr algn="l"/>
            <a:r>
              <a:rPr sz="975" b="1" i="0" u="none">
                <a:solidFill>
                  <a:srgbClr val="2563EB"/>
                </a:solidFill>
                <a:latin typeface="Space Grotesk"/>
              </a:rPr>
              <a:t>Screenshot</a:t>
            </a:r>
          </a:p>
        </p:txBody>
      </p:sp>
      <p:sp>
        <p:nvSpPr>
          <p:cNvPr id="7" name="TextBox 6"/>
          <p:cNvSpPr txBox="1"/>
          <p:nvPr/>
        </p:nvSpPr>
        <p:spPr>
          <a:xfrm>
            <a:off x="533400" y="642937"/>
            <a:ext cx="2837854"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Plus Jakarta Sans"/>
              </a:rPr>
              <a:t>data_display.py</a:t>
            </a:r>
          </a:p>
        </p:txBody>
      </p:sp>
      <p:pic>
        <p:nvPicPr>
          <p:cNvPr id="9" name="Picture 8">
            <a:extLst>
              <a:ext uri="{FF2B5EF4-FFF2-40B4-BE49-F238E27FC236}">
                <a16:creationId xmlns:a16="http://schemas.microsoft.com/office/drawing/2014/main" id="{E91F1E2D-A942-168D-69EB-8E85BFC589D6}"/>
              </a:ext>
            </a:extLst>
          </p:cNvPr>
          <p:cNvPicPr>
            <a:picLocks noChangeAspect="1"/>
          </p:cNvPicPr>
          <p:nvPr/>
        </p:nvPicPr>
        <p:blipFill>
          <a:blip r:embed="rId2"/>
          <a:stretch>
            <a:fillRect/>
          </a:stretch>
        </p:blipFill>
        <p:spPr>
          <a:xfrm>
            <a:off x="3082770" y="1168284"/>
            <a:ext cx="6026460" cy="45214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33400" y="6296025"/>
            <a:ext cx="111252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687050" y="419100"/>
            <a:ext cx="971550" cy="276225"/>
          </a:xfrm>
          <a:prstGeom prst="roundRect">
            <a:avLst>
              <a:gd name="adj" fmla="val 5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33400" y="1153417"/>
            <a:ext cx="11125200" cy="5142607"/>
          </a:xfrm>
          <a:prstGeom prst="roundRect">
            <a:avLst>
              <a:gd name="adj" fmla="val 2593"/>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33400" y="6296025"/>
            <a:ext cx="1112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20400" y="476250"/>
            <a:ext cx="800100" cy="161925"/>
          </a:xfrm>
          <a:prstGeom prst="rect">
            <a:avLst/>
          </a:prstGeom>
          <a:noFill/>
        </p:spPr>
        <p:txBody>
          <a:bodyPr wrap="square" lIns="0" tIns="0" rIns="0" bIns="0" anchor="t">
            <a:spAutoFit/>
          </a:bodyPr>
          <a:lstStyle/>
          <a:p>
            <a:pPr algn="l"/>
            <a:r>
              <a:rPr sz="975" b="1" i="0" u="none">
                <a:solidFill>
                  <a:srgbClr val="2563EB"/>
                </a:solidFill>
                <a:latin typeface="Space Grotesk"/>
              </a:rPr>
              <a:t>Screenshot</a:t>
            </a:r>
          </a:p>
        </p:txBody>
      </p:sp>
      <p:sp>
        <p:nvSpPr>
          <p:cNvPr id="7" name="TextBox 6"/>
          <p:cNvSpPr txBox="1"/>
          <p:nvPr/>
        </p:nvSpPr>
        <p:spPr>
          <a:xfrm>
            <a:off x="533400" y="642937"/>
            <a:ext cx="3337917"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Plus Jakarta Sans"/>
              </a:rPr>
              <a:t>manual_classify.py</a:t>
            </a:r>
          </a:p>
        </p:txBody>
      </p:sp>
      <p:pic>
        <p:nvPicPr>
          <p:cNvPr id="9" name="Picture 8">
            <a:extLst>
              <a:ext uri="{FF2B5EF4-FFF2-40B4-BE49-F238E27FC236}">
                <a16:creationId xmlns:a16="http://schemas.microsoft.com/office/drawing/2014/main" id="{EF9493C6-251D-8601-AA1A-E71877FBC273}"/>
              </a:ext>
            </a:extLst>
          </p:cNvPr>
          <p:cNvPicPr>
            <a:picLocks noChangeAspect="1"/>
          </p:cNvPicPr>
          <p:nvPr/>
        </p:nvPicPr>
        <p:blipFill>
          <a:blip r:embed="rId2"/>
          <a:stretch>
            <a:fillRect/>
          </a:stretch>
        </p:blipFill>
        <p:spPr>
          <a:xfrm>
            <a:off x="3111346" y="1206386"/>
            <a:ext cx="5969307" cy="44452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33400" y="6296025"/>
            <a:ext cx="111252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839325" y="419100"/>
            <a:ext cx="1819275" cy="276225"/>
          </a:xfrm>
          <a:prstGeom prst="roundRect">
            <a:avLst>
              <a:gd name="adj" fmla="val 5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33400" y="1153417"/>
            <a:ext cx="5457825" cy="5142607"/>
          </a:xfrm>
          <a:prstGeom prst="roundRect">
            <a:avLst>
              <a:gd name="adj" fmla="val 2593"/>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5" name="Rounded Rectangle 4"/>
              <p:cNvSpPr/>
              <p:nvPr/>
            </p:nvSpPr>
            <p:spPr>
              <a:xfrm>
                <a:off x="6475857" y="1234317"/>
                <a:ext cx="5438775" cy="5123559"/>
              </a:xfrm>
              <a:prstGeom prst="roundRect">
                <a:avLst>
                  <a:gd name="adj" fmla="val 1327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100" b="1" dirty="0">
                    <a:solidFill>
                      <a:schemeClr val="tx1"/>
                    </a:solidFill>
                  </a:rPr>
                  <a:t>Explanation of Changes: </a:t>
                </a:r>
                <a:r>
                  <a:rPr lang="en-US" sz="1100" dirty="0">
                    <a:solidFill>
                      <a:schemeClr val="tx1"/>
                    </a:solidFill>
                  </a:rPr>
                  <a:t>manual_classify.py</a:t>
                </a:r>
                <a:r>
                  <a:rPr lang="en-US" sz="1100" b="1" dirty="0">
                    <a:solidFill>
                      <a:schemeClr val="tx1"/>
                    </a:solidFill>
                  </a:rPr>
                  <a:t> to </a:t>
                </a:r>
                <a:r>
                  <a:rPr lang="en-US" sz="1100" dirty="0">
                    <a:solidFill>
                      <a:schemeClr val="tx1"/>
                    </a:solidFill>
                  </a:rPr>
                  <a:t>auto_classify.py</a:t>
                </a:r>
                <a:endParaRPr lang="en-US" sz="1100" b="1" dirty="0">
                  <a:solidFill>
                    <a:schemeClr val="tx1"/>
                  </a:solidFill>
                </a:endParaRPr>
              </a:p>
              <a:p>
                <a:pPr lvl="0"/>
                <a:r>
                  <a:rPr lang="en-US" sz="1100" b="1" dirty="0">
                    <a:solidFill>
                      <a:schemeClr val="tx1"/>
                    </a:solidFill>
                  </a:rPr>
                  <a:t>Removal of Manual Input Prompts:</a:t>
                </a:r>
                <a:r>
                  <a:rPr lang="en-US" sz="1100" dirty="0">
                    <a:solidFill>
                      <a:schemeClr val="tx1"/>
                    </a:solidFill>
                  </a:rPr>
                  <a:t> In the original manual_classify.py script, the program paused to wait for the user to manually type in specific gradient (</a:t>
                </a:r>
                <a14:m>
                  <m:oMath xmlns:m="http://schemas.openxmlformats.org/officeDocument/2006/math">
                    <m:r>
                      <a:rPr lang="en-US" sz="1100" i="1">
                        <a:solidFill>
                          <a:schemeClr val="tx1"/>
                        </a:solidFill>
                        <a:latin typeface="Cambria Math" panose="02040503050406030204" pitchFamily="18" charset="0"/>
                      </a:rPr>
                      <m:t>𝑚</m:t>
                    </m:r>
                  </m:oMath>
                </a14:m>
                <a:r>
                  <a:rPr lang="en-US" sz="1100" dirty="0">
                    <a:solidFill>
                      <a:schemeClr val="tx1"/>
                    </a:solidFill>
                  </a:rPr>
                  <a:t>) and </a:t>
                </a:r>
                <a14:m>
                  <m:oMath xmlns:m="http://schemas.openxmlformats.org/officeDocument/2006/math">
                    <m:r>
                      <a:rPr lang="en-US" sz="1100" i="1">
                        <a:solidFill>
                          <a:schemeClr val="tx1"/>
                        </a:solidFill>
                        <a:latin typeface="Cambria Math" panose="02040503050406030204" pitchFamily="18" charset="0"/>
                      </a:rPr>
                      <m:t>𝑦</m:t>
                    </m:r>
                  </m:oMath>
                </a14:m>
                <a:r>
                  <a:rPr lang="en-US" sz="1100" dirty="0">
                    <a:solidFill>
                      <a:schemeClr val="tx1"/>
                    </a:solidFill>
                  </a:rPr>
                  <a:t>-intercept (</a:t>
                </a:r>
                <a14:m>
                  <m:oMath xmlns:m="http://schemas.openxmlformats.org/officeDocument/2006/math">
                    <m:r>
                      <a:rPr lang="en-US" sz="1100" i="1">
                        <a:solidFill>
                          <a:schemeClr val="tx1"/>
                        </a:solidFill>
                        <a:latin typeface="Cambria Math" panose="02040503050406030204" pitchFamily="18" charset="0"/>
                      </a:rPr>
                      <m:t>𝑐</m:t>
                    </m:r>
                  </m:oMath>
                </a14:m>
                <a:r>
                  <a:rPr lang="en-US" sz="1100" dirty="0">
                    <a:solidFill>
                      <a:schemeClr val="tx1"/>
                    </a:solidFill>
                  </a:rPr>
                  <a:t>) values. This was replaced with a user input prompt asking only for the </a:t>
                </a:r>
                <a:r>
                  <a:rPr lang="en-US" sz="1100" b="1" dirty="0">
                    <a:solidFill>
                      <a:schemeClr val="tx1"/>
                    </a:solidFill>
                  </a:rPr>
                  <a:t>number of trials</a:t>
                </a:r>
                <a:r>
                  <a:rPr lang="en-US" sz="1100" dirty="0">
                    <a:solidFill>
                      <a:schemeClr val="tx1"/>
                    </a:solidFill>
                  </a:rPr>
                  <a:t> to run (e.g., 10, 100, or 1,000 trials). </a:t>
                </a:r>
              </a:p>
              <a:p>
                <a:pPr lvl="0"/>
                <a:br>
                  <a:rPr lang="en-US" sz="1100" dirty="0">
                    <a:solidFill>
                      <a:schemeClr val="tx1"/>
                    </a:solidFill>
                  </a:rPr>
                </a:br>
                <a:endParaRPr lang="en-US" sz="1100" dirty="0">
                  <a:solidFill>
                    <a:schemeClr val="tx1"/>
                  </a:solidFill>
                </a:endParaRPr>
              </a:p>
              <a:p>
                <a:pPr lvl="0"/>
                <a:r>
                  <a:rPr lang="en-US" sz="1100" b="1" dirty="0">
                    <a:solidFill>
                      <a:schemeClr val="tx1"/>
                    </a:solidFill>
                  </a:rPr>
                  <a:t>Introduction of Automated Random Generation (</a:t>
                </a:r>
                <a:r>
                  <a:rPr lang="en-US" sz="1100" dirty="0">
                    <a:solidFill>
                      <a:schemeClr val="tx1"/>
                    </a:solidFill>
                  </a:rPr>
                  <a:t>random</a:t>
                </a:r>
                <a:r>
                  <a:rPr lang="en-US" sz="1100" b="1" dirty="0">
                    <a:solidFill>
                      <a:schemeClr val="tx1"/>
                    </a:solidFill>
                  </a:rPr>
                  <a:t> module):</a:t>
                </a:r>
                <a:r>
                  <a:rPr lang="en-US" sz="1100" dirty="0">
                    <a:solidFill>
                      <a:schemeClr val="tx1"/>
                    </a:solidFill>
                  </a:rPr>
                  <a:t> We imported Python's built-in random module to automate parameter generation. Instead of human decision-making, a for loop executes the requested number of trials, using </a:t>
                </a:r>
                <a:r>
                  <a:rPr lang="en-US" sz="1100" dirty="0" err="1">
                    <a:solidFill>
                      <a:schemeClr val="tx1"/>
                    </a:solidFill>
                  </a:rPr>
                  <a:t>random.uniform</a:t>
                </a:r>
                <a:r>
                  <a:rPr lang="en-US" sz="1100" dirty="0">
                    <a:solidFill>
                      <a:schemeClr val="tx1"/>
                    </a:solidFill>
                  </a:rPr>
                  <a:t>() to automatically select random values for gradient (</a:t>
                </a:r>
                <a14:m>
                  <m:oMath xmlns:m="http://schemas.openxmlformats.org/officeDocument/2006/math">
                    <m:r>
                      <a:rPr lang="en-US" sz="1100" i="1">
                        <a:solidFill>
                          <a:schemeClr val="tx1"/>
                        </a:solidFill>
                        <a:latin typeface="Cambria Math" panose="02040503050406030204" pitchFamily="18" charset="0"/>
                      </a:rPr>
                      <m:t>𝑚</m:t>
                    </m:r>
                  </m:oMath>
                </a14:m>
                <a:r>
                  <a:rPr lang="en-US" sz="1100" dirty="0">
                    <a:solidFill>
                      <a:schemeClr val="tx1"/>
                    </a:solidFill>
                  </a:rPr>
                  <a:t>) and intercept (</a:t>
                </a:r>
                <a14:m>
                  <m:oMath xmlns:m="http://schemas.openxmlformats.org/officeDocument/2006/math">
                    <m:r>
                      <a:rPr lang="en-US" sz="1100" i="1">
                        <a:solidFill>
                          <a:schemeClr val="tx1"/>
                        </a:solidFill>
                        <a:latin typeface="Cambria Math" panose="02040503050406030204" pitchFamily="18" charset="0"/>
                      </a:rPr>
                      <m:t>𝑐</m:t>
                    </m:r>
                  </m:oMath>
                </a14:m>
                <a:r>
                  <a:rPr lang="en-US" sz="1100" dirty="0">
                    <a:solidFill>
                      <a:schemeClr val="tx1"/>
                    </a:solidFill>
                  </a:rPr>
                  <a:t>) across defined mathematical bounds. </a:t>
                </a:r>
              </a:p>
              <a:p>
                <a:pPr lvl="0"/>
                <a:br>
                  <a:rPr lang="en-US" sz="1100" dirty="0">
                    <a:solidFill>
                      <a:schemeClr val="tx1"/>
                    </a:solidFill>
                  </a:rPr>
                </a:br>
                <a:endParaRPr lang="en-US" sz="1100" dirty="0">
                  <a:solidFill>
                    <a:schemeClr val="tx1"/>
                  </a:solidFill>
                </a:endParaRPr>
              </a:p>
              <a:p>
                <a:pPr lvl="0"/>
                <a:r>
                  <a:rPr lang="en-US" sz="1100" b="1" dirty="0">
                    <a:solidFill>
                      <a:schemeClr val="tx1"/>
                    </a:solidFill>
                  </a:rPr>
                  <a:t>Automated Evaluation and Score Tracking:</a:t>
                </a:r>
                <a:r>
                  <a:rPr lang="en-US" sz="1100" dirty="0">
                    <a:solidFill>
                      <a:schemeClr val="tx1"/>
                    </a:solidFill>
                  </a:rPr>
                  <a:t> A tracking mechanism was introduced inside the loop to evaluate every generated line. Each random line's classification accuracy is calculated using the two-sided scoring method (testing both color allocations to find the highest percentage of correctly classified points). </a:t>
                </a:r>
              </a:p>
              <a:p>
                <a:pPr lvl="0"/>
                <a:br>
                  <a:rPr lang="en-US" sz="1100" dirty="0">
                    <a:solidFill>
                      <a:schemeClr val="tx1"/>
                    </a:solidFill>
                  </a:rPr>
                </a:br>
                <a:endParaRPr lang="en-US" sz="1100" dirty="0">
                  <a:solidFill>
                    <a:schemeClr val="tx1"/>
                  </a:solidFill>
                </a:endParaRPr>
              </a:p>
              <a:p>
                <a:pPr lvl="0"/>
                <a:r>
                  <a:rPr lang="en-US" sz="1100" b="1" dirty="0">
                    <a:solidFill>
                      <a:schemeClr val="tx1"/>
                    </a:solidFill>
                  </a:rPr>
                  <a:t>Best Parameter Retention:</a:t>
                </a:r>
                <a:r>
                  <a:rPr lang="en-US" sz="1100" dirty="0">
                    <a:solidFill>
                      <a:schemeClr val="tx1"/>
                    </a:solidFill>
                  </a:rPr>
                  <a:t> Rather than keeping every trial, conditional logic (if acc &gt; </a:t>
                </a:r>
                <a:r>
                  <a:rPr lang="en-US" sz="1100" dirty="0" err="1">
                    <a:solidFill>
                      <a:schemeClr val="tx1"/>
                    </a:solidFill>
                  </a:rPr>
                  <a:t>best_acc</a:t>
                </a:r>
                <a:r>
                  <a:rPr lang="en-US" sz="1100" dirty="0">
                    <a:solidFill>
                      <a:schemeClr val="tx1"/>
                    </a:solidFill>
                  </a:rPr>
                  <a:t>) was implemented to compare each trial's score against the previous best. The program dynamically discards weaker lines and stores only the optimal </a:t>
                </a:r>
                <a14:m>
                  <m:oMath xmlns:m="http://schemas.openxmlformats.org/officeDocument/2006/math">
                    <m:r>
                      <a:rPr lang="en-US" sz="1100" i="1">
                        <a:solidFill>
                          <a:schemeClr val="tx1"/>
                        </a:solidFill>
                        <a:latin typeface="Cambria Math" panose="02040503050406030204" pitchFamily="18" charset="0"/>
                      </a:rPr>
                      <m:t>𝑚</m:t>
                    </m:r>
                  </m:oMath>
                </a14:m>
                <a:r>
                  <a:rPr lang="en-US" sz="1100" dirty="0">
                    <a:solidFill>
                      <a:schemeClr val="tx1"/>
                    </a:solidFill>
                  </a:rPr>
                  <a:t>and </a:t>
                </a:r>
                <a14:m>
                  <m:oMath xmlns:m="http://schemas.openxmlformats.org/officeDocument/2006/math">
                    <m:r>
                      <a:rPr lang="en-US" sz="1100" i="1">
                        <a:solidFill>
                          <a:schemeClr val="tx1"/>
                        </a:solidFill>
                        <a:latin typeface="Cambria Math" panose="02040503050406030204" pitchFamily="18" charset="0"/>
                      </a:rPr>
                      <m:t>𝑐</m:t>
                    </m:r>
                  </m:oMath>
                </a14:m>
                <a:r>
                  <a:rPr lang="en-US" sz="1100" dirty="0">
                    <a:solidFill>
                      <a:schemeClr val="tx1"/>
                    </a:solidFill>
                  </a:rPr>
                  <a:t>values, which are then used to display the final winning line on the scatter plot. </a:t>
                </a:r>
              </a:p>
              <a:p>
                <a:pPr algn="ctr"/>
                <a:endParaRPr lang="en-US" sz="1100" dirty="0">
                  <a:solidFill>
                    <a:schemeClr val="tx1"/>
                  </a:solidFill>
                </a:endParaRPr>
              </a:p>
            </p:txBody>
          </p:sp>
        </mc:Choice>
        <mc:Fallback xmlns="">
          <p:sp>
            <p:nvSpPr>
              <p:cNvPr id="5" name="Rounded Rectangle 4"/>
              <p:cNvSpPr>
                <a:spLocks noRot="1" noChangeAspect="1" noMove="1" noResize="1" noEditPoints="1" noAdjustHandles="1" noChangeArrowheads="1" noChangeShapeType="1" noTextEdit="1"/>
              </p:cNvSpPr>
              <p:nvPr/>
            </p:nvSpPr>
            <p:spPr>
              <a:xfrm>
                <a:off x="6475857" y="1234317"/>
                <a:ext cx="5438775" cy="5123559"/>
              </a:xfrm>
              <a:prstGeom prst="roundRect">
                <a:avLst>
                  <a:gd name="adj" fmla="val 13270"/>
                </a:avLst>
              </a:prstGeom>
              <a:blipFill>
                <a:blip r:embed="rId2"/>
                <a:stretch>
                  <a:fillRect/>
                </a:stretch>
              </a:blipFill>
              <a:ln w="9525">
                <a:solidFill>
                  <a:srgbClr val="E2E8F0"/>
                </a:solidFill>
              </a:ln>
              <a:effectLst/>
            </p:spPr>
            <p:txBody>
              <a:bodyPr/>
              <a:lstStyle/>
              <a:p>
                <a:r>
                  <a:rPr lang="en-US">
                    <a:noFill/>
                  </a:rPr>
                  <a:t> </a:t>
                </a:r>
              </a:p>
            </p:txBody>
          </p:sp>
        </mc:Fallback>
      </mc:AlternateContent>
      <p:sp>
        <p:nvSpPr>
          <p:cNvPr id="6" name="Rectangle 5"/>
          <p:cNvSpPr/>
          <p:nvPr/>
        </p:nvSpPr>
        <p:spPr>
          <a:xfrm>
            <a:off x="533400" y="6296025"/>
            <a:ext cx="1112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972675" y="476250"/>
            <a:ext cx="1647825" cy="161925"/>
          </a:xfrm>
          <a:prstGeom prst="rect">
            <a:avLst/>
          </a:prstGeom>
          <a:noFill/>
        </p:spPr>
        <p:txBody>
          <a:bodyPr wrap="square" lIns="0" tIns="0" rIns="0" bIns="0" anchor="t">
            <a:spAutoFit/>
          </a:bodyPr>
          <a:lstStyle/>
          <a:p>
            <a:pPr algn="l"/>
            <a:r>
              <a:rPr sz="975" b="1" i="0" u="none">
                <a:solidFill>
                  <a:srgbClr val="2563EB"/>
                </a:solidFill>
                <a:latin typeface="Space Grotesk"/>
              </a:rPr>
              <a:t>Screenshot &amp; Explanation</a:t>
            </a:r>
          </a:p>
        </p:txBody>
      </p:sp>
      <p:sp>
        <p:nvSpPr>
          <p:cNvPr id="8" name="TextBox 7"/>
          <p:cNvSpPr txBox="1"/>
          <p:nvPr/>
        </p:nvSpPr>
        <p:spPr>
          <a:xfrm>
            <a:off x="533400" y="642937"/>
            <a:ext cx="288786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Plus Jakarta Sans"/>
              </a:rPr>
              <a:t>auto_classify.py</a:t>
            </a:r>
          </a:p>
        </p:txBody>
      </p:sp>
      <p:sp>
        <p:nvSpPr>
          <p:cNvPr id="9" name="TextBox 8"/>
          <p:cNvSpPr txBox="1"/>
          <p:nvPr/>
        </p:nvSpPr>
        <p:spPr>
          <a:xfrm>
            <a:off x="6686550" y="533399"/>
            <a:ext cx="5734050" cy="219075"/>
          </a:xfrm>
          <a:prstGeom prst="rect">
            <a:avLst/>
          </a:prstGeom>
          <a:noFill/>
        </p:spPr>
        <p:txBody>
          <a:bodyPr wrap="none" lIns="0" tIns="0" rIns="0" bIns="0" anchor="t">
            <a:spAutoFit/>
          </a:bodyPr>
          <a:lstStyle/>
          <a:p>
            <a:pPr algn="l"/>
            <a:r>
              <a:rPr sz="1350" b="1" i="0" u="none" dirty="0">
                <a:solidFill>
                  <a:srgbClr val="0F172A"/>
                </a:solidFill>
                <a:latin typeface="Plus Jakarta Sans"/>
              </a:rPr>
              <a:t>Explanation of Changes</a:t>
            </a:r>
          </a:p>
        </p:txBody>
      </p:sp>
      <p:pic>
        <p:nvPicPr>
          <p:cNvPr id="13" name="Picture 12">
            <a:extLst>
              <a:ext uri="{FF2B5EF4-FFF2-40B4-BE49-F238E27FC236}">
                <a16:creationId xmlns:a16="http://schemas.microsoft.com/office/drawing/2014/main" id="{ACE3DA0E-61D5-75EC-18F4-1C15F390948E}"/>
              </a:ext>
            </a:extLst>
          </p:cNvPr>
          <p:cNvPicPr>
            <a:picLocks noChangeAspect="1"/>
          </p:cNvPicPr>
          <p:nvPr/>
        </p:nvPicPr>
        <p:blipFill>
          <a:blip r:embed="rId3"/>
          <a:stretch>
            <a:fillRect/>
          </a:stretch>
        </p:blipFill>
        <p:spPr>
          <a:xfrm>
            <a:off x="596495" y="1502079"/>
            <a:ext cx="5331633" cy="39166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33400" y="6296025"/>
            <a:ext cx="111252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687050" y="419100"/>
            <a:ext cx="971550" cy="276225"/>
          </a:xfrm>
          <a:prstGeom prst="roundRect">
            <a:avLst>
              <a:gd name="adj" fmla="val 5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33400" y="1153417"/>
            <a:ext cx="11125200" cy="5142607"/>
          </a:xfrm>
          <a:prstGeom prst="roundRect">
            <a:avLst>
              <a:gd name="adj" fmla="val 2593"/>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33400" y="6296025"/>
            <a:ext cx="1112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20400" y="476250"/>
            <a:ext cx="800100" cy="161925"/>
          </a:xfrm>
          <a:prstGeom prst="rect">
            <a:avLst/>
          </a:prstGeom>
          <a:noFill/>
        </p:spPr>
        <p:txBody>
          <a:bodyPr wrap="square" lIns="0" tIns="0" rIns="0" bIns="0" anchor="t">
            <a:spAutoFit/>
          </a:bodyPr>
          <a:lstStyle/>
          <a:p>
            <a:pPr algn="l"/>
            <a:r>
              <a:rPr sz="975" b="1" i="0" u="none">
                <a:solidFill>
                  <a:srgbClr val="2563EB"/>
                </a:solidFill>
                <a:latin typeface="Space Grotesk"/>
              </a:rPr>
              <a:t>Screenshot</a:t>
            </a:r>
          </a:p>
        </p:txBody>
      </p:sp>
      <p:sp>
        <p:nvSpPr>
          <p:cNvPr id="7" name="TextBox 6"/>
          <p:cNvSpPr txBox="1"/>
          <p:nvPr/>
        </p:nvSpPr>
        <p:spPr>
          <a:xfrm>
            <a:off x="533400" y="642937"/>
            <a:ext cx="3875484"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Plus Jakarta Sans"/>
              </a:rPr>
              <a:t>manual_non_linear.py</a:t>
            </a:r>
          </a:p>
        </p:txBody>
      </p:sp>
      <p:pic>
        <p:nvPicPr>
          <p:cNvPr id="9" name="Picture 8">
            <a:extLst>
              <a:ext uri="{FF2B5EF4-FFF2-40B4-BE49-F238E27FC236}">
                <a16:creationId xmlns:a16="http://schemas.microsoft.com/office/drawing/2014/main" id="{63DC2257-C026-F142-9220-A7DAE3179D0A}"/>
              </a:ext>
            </a:extLst>
          </p:cNvPr>
          <p:cNvPicPr>
            <a:picLocks noChangeAspect="1"/>
          </p:cNvPicPr>
          <p:nvPr/>
        </p:nvPicPr>
        <p:blipFill>
          <a:blip r:embed="rId2"/>
          <a:stretch>
            <a:fillRect/>
          </a:stretch>
        </p:blipFill>
        <p:spPr>
          <a:xfrm>
            <a:off x="3476490" y="1339742"/>
            <a:ext cx="5239019" cy="41785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33400" y="6296025"/>
            <a:ext cx="111252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839325" y="419100"/>
            <a:ext cx="1819275" cy="276225"/>
          </a:xfrm>
          <a:prstGeom prst="roundRect">
            <a:avLst>
              <a:gd name="adj" fmla="val 5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33400" y="1153417"/>
            <a:ext cx="5457825" cy="5142607"/>
          </a:xfrm>
          <a:prstGeom prst="roundRect">
            <a:avLst>
              <a:gd name="adj" fmla="val 2593"/>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5" name="Rounded Rectangle 4"/>
              <p:cNvSpPr/>
              <p:nvPr/>
            </p:nvSpPr>
            <p:spPr>
              <a:xfrm>
                <a:off x="6099334" y="1718866"/>
                <a:ext cx="5438775" cy="3588989"/>
              </a:xfrm>
              <a:prstGeom prst="roundRect">
                <a:avLst>
                  <a:gd name="adj" fmla="val 1327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100" b="1" dirty="0">
                    <a:solidFill>
                      <a:schemeClr val="tx1"/>
                    </a:solidFill>
                  </a:rPr>
                  <a:t>Explanation of Changes: manual_non_linear.py to auto_non_linear.py</a:t>
                </a:r>
              </a:p>
              <a:p>
                <a:pPr lvl="0"/>
                <a:r>
                  <a:rPr lang="en-US" sz="1100" b="1" dirty="0">
                    <a:solidFill>
                      <a:schemeClr val="tx1"/>
                    </a:solidFill>
                  </a:rPr>
                  <a:t>Removal of Manual Radius Input:</a:t>
                </a:r>
                <a:r>
                  <a:rPr lang="en-US" sz="1100" dirty="0">
                    <a:solidFill>
                      <a:schemeClr val="tx1"/>
                    </a:solidFill>
                  </a:rPr>
                  <a:t> In the original manual_non_linear.py script, the program required the user to manually type in a specific circle radius (</a:t>
                </a:r>
                <a14:m>
                  <m:oMath xmlns:m="http://schemas.openxmlformats.org/officeDocument/2006/math">
                    <m:r>
                      <a:rPr lang="en-US" sz="1100" i="1">
                        <a:solidFill>
                          <a:schemeClr val="tx1"/>
                        </a:solidFill>
                        <a:latin typeface="Cambria Math" panose="02040503050406030204" pitchFamily="18" charset="0"/>
                      </a:rPr>
                      <m:t>𝑟</m:t>
                    </m:r>
                  </m:oMath>
                </a14:m>
                <a:r>
                  <a:rPr lang="en-US" sz="1100" dirty="0">
                    <a:solidFill>
                      <a:schemeClr val="tx1"/>
                    </a:solidFill>
                  </a:rPr>
                  <a:t>) to test classification. This prompt was completely removed to allow for fully automated execution. </a:t>
                </a:r>
              </a:p>
              <a:p>
                <a:pPr lvl="0"/>
                <a:r>
                  <a:rPr lang="en-US" sz="1100" b="1" dirty="0">
                    <a:solidFill>
                      <a:schemeClr val="tx1"/>
                    </a:solidFill>
                  </a:rPr>
                  <a:t>Implementation of Systematic Grid/Sweep Search Algorithm:</a:t>
                </a:r>
                <a:r>
                  <a:rPr lang="en-US" sz="1100" dirty="0">
                    <a:solidFill>
                      <a:schemeClr val="tx1"/>
                    </a:solidFill>
                  </a:rPr>
                  <a:t> Instead of relying on random guessing (like the random search used for linear classification) or manual trial-and-error, auto_non_linear.py introduces a systematic parameter sweep. Using a while loop, the algorithm tests every possible radius increment from </a:t>
                </a:r>
                <a14:m>
                  <m:oMath xmlns:m="http://schemas.openxmlformats.org/officeDocument/2006/math">
                    <m:r>
                      <a:rPr lang="en-US" sz="1100">
                        <a:solidFill>
                          <a:schemeClr val="tx1"/>
                        </a:solidFill>
                        <a:latin typeface="Cambria Math" panose="02040503050406030204" pitchFamily="18" charset="0"/>
                      </a:rPr>
                      <m:t>0</m:t>
                    </m:r>
                  </m:oMath>
                </a14:m>
                <a:r>
                  <a:rPr lang="en-US" sz="1100" dirty="0">
                    <a:solidFill>
                      <a:schemeClr val="tx1"/>
                    </a:solidFill>
                  </a:rPr>
                  <a:t>up to the maximum boundary (</a:t>
                </a:r>
                <a14:m>
                  <m:oMath xmlns:m="http://schemas.openxmlformats.org/officeDocument/2006/math">
                    <m:r>
                      <a:rPr lang="en-US" sz="1100">
                        <a:solidFill>
                          <a:schemeClr val="tx1"/>
                        </a:solidFill>
                        <a:latin typeface="Cambria Math" panose="02040503050406030204" pitchFamily="18" charset="0"/>
                      </a:rPr>
                      <m:t>142</m:t>
                    </m:r>
                  </m:oMath>
                </a14:m>
                <a:r>
                  <a:rPr lang="en-US" sz="1100" dirty="0">
                    <a:solidFill>
                      <a:schemeClr val="tx1"/>
                    </a:solidFill>
                  </a:rPr>
                  <a:t>) in precise steps (e.g., increments of </a:t>
                </a:r>
                <a14:m>
                  <m:oMath xmlns:m="http://schemas.openxmlformats.org/officeDocument/2006/math">
                    <m:r>
                      <a:rPr lang="en-US" sz="1100">
                        <a:solidFill>
                          <a:schemeClr val="tx1"/>
                        </a:solidFill>
                        <a:latin typeface="Cambria Math" panose="02040503050406030204" pitchFamily="18" charset="0"/>
                      </a:rPr>
                      <m:t>0.1</m:t>
                    </m:r>
                  </m:oMath>
                </a14:m>
                <a:r>
                  <a:rPr lang="en-US" sz="1100" dirty="0">
                    <a:solidFill>
                      <a:schemeClr val="tx1"/>
                    </a:solidFill>
                  </a:rPr>
                  <a:t>). </a:t>
                </a:r>
              </a:p>
              <a:p>
                <a:pPr lvl="0"/>
                <a:r>
                  <a:rPr lang="en-US" sz="1100" b="1" dirty="0">
                    <a:solidFill>
                      <a:schemeClr val="tx1"/>
                    </a:solidFill>
                  </a:rPr>
                  <a:t>Automated Scoring and Optimal Radius Retention:</a:t>
                </a:r>
                <a:r>
                  <a:rPr lang="en-US" sz="1100" dirty="0">
                    <a:solidFill>
                      <a:schemeClr val="tx1"/>
                    </a:solidFill>
                  </a:rPr>
                  <a:t> The evaluation function calculates the percentage score for every tested radius using the two-sided scoring method (evaluating both color assignments for inside/outside the circle). Conditional logic compares each score against the previous highest result, retaining only the optimal radius that yields maximum classification accuracy. </a:t>
                </a:r>
              </a:p>
              <a:p>
                <a:pPr lvl="0"/>
                <a:r>
                  <a:rPr lang="en-US" sz="1100" b="1" dirty="0">
                    <a:solidFill>
                      <a:schemeClr val="tx1"/>
                    </a:solidFill>
                  </a:rPr>
                  <a:t>Algorithmic Justification and </a:t>
                </a:r>
                <a:r>
                  <a:rPr lang="en-US" sz="1100" b="1" dirty="0" err="1">
                    <a:solidFill>
                      <a:schemeClr val="tx1"/>
                    </a:solidFill>
                  </a:rPr>
                  <a:t>Visualisation</a:t>
                </a:r>
                <a:r>
                  <a:rPr lang="en-US" sz="1100" b="1" dirty="0">
                    <a:solidFill>
                      <a:schemeClr val="tx1"/>
                    </a:solidFill>
                  </a:rPr>
                  <a:t>:</a:t>
                </a:r>
                <a:r>
                  <a:rPr lang="en-US" sz="1100" dirty="0">
                    <a:solidFill>
                      <a:schemeClr val="tx1"/>
                    </a:solidFill>
                  </a:rPr>
                  <a:t> This systematic approach guarantees that the absolute best circular boundary is found without human intervention. The final script automatically plots the dataset and overlays the optimal circle boundary using Matplotlib with equal axis scaling</a:t>
                </a:r>
              </a:p>
            </p:txBody>
          </p:sp>
        </mc:Choice>
        <mc:Fallback xmlns="">
          <p:sp>
            <p:nvSpPr>
              <p:cNvPr id="5" name="Rounded Rectangle 4"/>
              <p:cNvSpPr>
                <a:spLocks noRot="1" noChangeAspect="1" noMove="1" noResize="1" noEditPoints="1" noAdjustHandles="1" noChangeArrowheads="1" noChangeShapeType="1" noTextEdit="1"/>
              </p:cNvSpPr>
              <p:nvPr/>
            </p:nvSpPr>
            <p:spPr>
              <a:xfrm>
                <a:off x="6099334" y="1718866"/>
                <a:ext cx="5438775" cy="3588989"/>
              </a:xfrm>
              <a:prstGeom prst="roundRect">
                <a:avLst>
                  <a:gd name="adj" fmla="val 13270"/>
                </a:avLst>
              </a:prstGeom>
              <a:blipFill>
                <a:blip r:embed="rId2"/>
                <a:stretch>
                  <a:fillRect/>
                </a:stretch>
              </a:blipFill>
              <a:ln w="9525">
                <a:solidFill>
                  <a:srgbClr val="E2E8F0"/>
                </a:solidFill>
              </a:ln>
              <a:effectLst/>
            </p:spPr>
            <p:txBody>
              <a:bodyPr/>
              <a:lstStyle/>
              <a:p>
                <a:r>
                  <a:rPr lang="en-US">
                    <a:noFill/>
                  </a:rPr>
                  <a:t> </a:t>
                </a:r>
              </a:p>
            </p:txBody>
          </p:sp>
        </mc:Fallback>
      </mc:AlternateContent>
      <p:sp>
        <p:nvSpPr>
          <p:cNvPr id="6" name="Rectangle 5"/>
          <p:cNvSpPr/>
          <p:nvPr/>
        </p:nvSpPr>
        <p:spPr>
          <a:xfrm>
            <a:off x="533400" y="6296025"/>
            <a:ext cx="1112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972675" y="476250"/>
            <a:ext cx="1647825" cy="161925"/>
          </a:xfrm>
          <a:prstGeom prst="rect">
            <a:avLst/>
          </a:prstGeom>
          <a:noFill/>
        </p:spPr>
        <p:txBody>
          <a:bodyPr wrap="square" lIns="0" tIns="0" rIns="0" bIns="0" anchor="t">
            <a:spAutoFit/>
          </a:bodyPr>
          <a:lstStyle/>
          <a:p>
            <a:pPr algn="l"/>
            <a:r>
              <a:rPr sz="975" b="1" i="0" u="none">
                <a:solidFill>
                  <a:srgbClr val="2563EB"/>
                </a:solidFill>
                <a:latin typeface="Space Grotesk"/>
              </a:rPr>
              <a:t>Screenshot &amp; Explanation</a:t>
            </a:r>
          </a:p>
        </p:txBody>
      </p:sp>
      <p:sp>
        <p:nvSpPr>
          <p:cNvPr id="8" name="TextBox 7"/>
          <p:cNvSpPr txBox="1"/>
          <p:nvPr/>
        </p:nvSpPr>
        <p:spPr>
          <a:xfrm>
            <a:off x="533400" y="642937"/>
            <a:ext cx="3425428"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Plus Jakarta Sans"/>
              </a:rPr>
              <a:t>auto_non_linear.py</a:t>
            </a:r>
          </a:p>
        </p:txBody>
      </p:sp>
      <p:sp>
        <p:nvSpPr>
          <p:cNvPr id="9" name="TextBox 8"/>
          <p:cNvSpPr txBox="1"/>
          <p:nvPr/>
        </p:nvSpPr>
        <p:spPr>
          <a:xfrm>
            <a:off x="6099334" y="743842"/>
            <a:ext cx="5734050" cy="219075"/>
          </a:xfrm>
          <a:prstGeom prst="rect">
            <a:avLst/>
          </a:prstGeom>
          <a:noFill/>
        </p:spPr>
        <p:txBody>
          <a:bodyPr wrap="none" lIns="0" tIns="0" rIns="0" bIns="0" anchor="t">
            <a:spAutoFit/>
          </a:bodyPr>
          <a:lstStyle/>
          <a:p>
            <a:pPr algn="l"/>
            <a:r>
              <a:rPr sz="1350" b="1" i="0" u="none" dirty="0">
                <a:solidFill>
                  <a:srgbClr val="0F172A"/>
                </a:solidFill>
                <a:latin typeface="Plus Jakarta Sans"/>
              </a:rPr>
              <a:t>Explanation of Changes</a:t>
            </a:r>
          </a:p>
        </p:txBody>
      </p:sp>
      <p:pic>
        <p:nvPicPr>
          <p:cNvPr id="11" name="Picture 10">
            <a:extLst>
              <a:ext uri="{FF2B5EF4-FFF2-40B4-BE49-F238E27FC236}">
                <a16:creationId xmlns:a16="http://schemas.microsoft.com/office/drawing/2014/main" id="{F923567A-7D3C-A40F-4E9D-8841E7073764}"/>
              </a:ext>
            </a:extLst>
          </p:cNvPr>
          <p:cNvPicPr>
            <a:picLocks noChangeAspect="1"/>
          </p:cNvPicPr>
          <p:nvPr/>
        </p:nvPicPr>
        <p:blipFill>
          <a:blip r:embed="rId3"/>
          <a:stretch>
            <a:fillRect/>
          </a:stretch>
        </p:blipFill>
        <p:spPr>
          <a:xfrm>
            <a:off x="744377" y="1437548"/>
            <a:ext cx="5035870" cy="42670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33400" y="6296025"/>
            <a:ext cx="111252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20400" y="419100"/>
            <a:ext cx="838200" cy="276225"/>
          </a:xfrm>
          <a:prstGeom prst="roundRect">
            <a:avLst>
              <a:gd name="adj" fmla="val 5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33400" y="3222277"/>
            <a:ext cx="5448300" cy="2565875"/>
          </a:xfrm>
          <a:prstGeom prst="roundRect">
            <a:avLst>
              <a:gd name="adj" fmla="val 1327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chemeClr val="tx1"/>
                </a:solidFill>
              </a:rPr>
              <a:t>Description of the </a:t>
            </a:r>
            <a:r>
              <a:rPr lang="en-US" sz="1100" dirty="0" err="1">
                <a:solidFill>
                  <a:schemeClr val="tx1"/>
                </a:solidFill>
              </a:rPr>
              <a:t>Optimisation</a:t>
            </a:r>
            <a:r>
              <a:rPr lang="en-US" sz="1100" dirty="0">
                <a:solidFill>
                  <a:schemeClr val="tx1"/>
                </a:solidFill>
              </a:rPr>
              <a:t> Algorithm: To approximate the maximum turning point of any negative quadratic curve without relying on direct algebraic formulas, the script implements an iterative Hill Climbing algorithm.</a:t>
            </a:r>
          </a:p>
          <a:p>
            <a:pPr algn="ctr"/>
            <a:r>
              <a:rPr lang="en-US" sz="1100" dirty="0">
                <a:solidFill>
                  <a:schemeClr val="tx1"/>
                </a:solidFill>
              </a:rPr>
              <a:t>Starting Position: The program selects a random initial 𝑥-coordinate within a defined search space (e.g., between −500and 500).</a:t>
            </a:r>
          </a:p>
          <a:p>
            <a:pPr algn="ctr"/>
            <a:r>
              <a:rPr lang="en-US" sz="1100" dirty="0">
                <a:solidFill>
                  <a:schemeClr val="tx1"/>
                </a:solidFill>
              </a:rPr>
              <a:t>Movement Logic: At the current position, the algorithm evaluates </a:t>
            </a:r>
            <a:r>
              <a:rPr lang="en-US" sz="1100" dirty="0" err="1">
                <a:solidFill>
                  <a:schemeClr val="tx1"/>
                </a:solidFill>
              </a:rPr>
              <a:t>neighbouring</a:t>
            </a:r>
            <a:r>
              <a:rPr lang="en-US" sz="1100" dirty="0">
                <a:solidFill>
                  <a:schemeClr val="tx1"/>
                </a:solidFill>
              </a:rPr>
              <a:t> points to the left and right by testing step increments. If a </a:t>
            </a:r>
            <a:r>
              <a:rPr lang="en-US" sz="1100" dirty="0" err="1">
                <a:solidFill>
                  <a:schemeClr val="tx1"/>
                </a:solidFill>
              </a:rPr>
              <a:t>neighbouring</a:t>
            </a:r>
            <a:r>
              <a:rPr lang="en-US" sz="1100" dirty="0">
                <a:solidFill>
                  <a:schemeClr val="tx1"/>
                </a:solidFill>
              </a:rPr>
              <a:t> point yields a higher 𝑦-value, the climber moves in that direction.</a:t>
            </a:r>
          </a:p>
          <a:p>
            <a:pPr algn="ctr"/>
            <a:endParaRPr sz="1100" dirty="0">
              <a:solidFill>
                <a:schemeClr val="tx1"/>
              </a:solidFill>
            </a:endParaRPr>
          </a:p>
        </p:txBody>
      </p:sp>
      <p:sp>
        <p:nvSpPr>
          <p:cNvPr id="5" name="Rounded Rectangle 4"/>
          <p:cNvSpPr/>
          <p:nvPr/>
        </p:nvSpPr>
        <p:spPr>
          <a:xfrm>
            <a:off x="6210300" y="3222277"/>
            <a:ext cx="5448300" cy="1916651"/>
          </a:xfrm>
          <a:prstGeom prst="roundRect">
            <a:avLst>
              <a:gd name="adj" fmla="val 1327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chemeClr val="tx1"/>
                </a:solidFill>
              </a:rPr>
              <a:t>Accuracy and Tolerance: To ensure high precision, the step size dynamically halves whenever the peak is bracketed. The loop continues until the step size satisfies the required precision tolerance bound of 1/√(|𝑎|), guaranteeing that the final approximate peak is accurate and reliable.</a:t>
            </a:r>
          </a:p>
          <a:p>
            <a:pPr algn="ctr"/>
            <a:endParaRPr sz="1100" dirty="0"/>
          </a:p>
        </p:txBody>
      </p:sp>
      <p:sp>
        <p:nvSpPr>
          <p:cNvPr id="6" name="Rectangle 5"/>
          <p:cNvSpPr/>
          <p:nvPr/>
        </p:nvSpPr>
        <p:spPr>
          <a:xfrm>
            <a:off x="533400" y="6296025"/>
            <a:ext cx="1112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53750" y="476250"/>
            <a:ext cx="666750" cy="161925"/>
          </a:xfrm>
          <a:prstGeom prst="rect">
            <a:avLst/>
          </a:prstGeom>
          <a:noFill/>
        </p:spPr>
        <p:txBody>
          <a:bodyPr wrap="square" lIns="0" tIns="0" rIns="0" bIns="0" anchor="t">
            <a:spAutoFit/>
          </a:bodyPr>
          <a:lstStyle/>
          <a:p>
            <a:pPr algn="l"/>
            <a:r>
              <a:rPr sz="975" b="1" i="0" u="none">
                <a:solidFill>
                  <a:srgbClr val="2563EB"/>
                </a:solidFill>
                <a:latin typeface="Space Grotesk"/>
              </a:rPr>
              <a:t>Algorithm</a:t>
            </a:r>
          </a:p>
        </p:txBody>
      </p:sp>
      <p:sp>
        <p:nvSpPr>
          <p:cNvPr id="8" name="TextBox 7"/>
          <p:cNvSpPr txBox="1"/>
          <p:nvPr/>
        </p:nvSpPr>
        <p:spPr>
          <a:xfrm>
            <a:off x="533400" y="642937"/>
            <a:ext cx="3775471"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Plus Jakarta Sans"/>
              </a:rPr>
              <a:t>Algorithm Description</a:t>
            </a:r>
          </a:p>
        </p:txBody>
      </p:sp>
      <p:sp>
        <p:nvSpPr>
          <p:cNvPr id="9" name="TextBox 8"/>
          <p:cNvSpPr txBox="1"/>
          <p:nvPr/>
        </p:nvSpPr>
        <p:spPr>
          <a:xfrm>
            <a:off x="771525" y="3460402"/>
            <a:ext cx="6525815" cy="219075"/>
          </a:xfrm>
          <a:prstGeom prst="rect">
            <a:avLst/>
          </a:prstGeom>
          <a:noFill/>
        </p:spPr>
        <p:txBody>
          <a:bodyPr wrap="none" lIns="0" tIns="0" rIns="0" bIns="0" anchor="t">
            <a:spAutoFit/>
          </a:bodyPr>
          <a:lstStyle/>
          <a:p>
            <a:pPr algn="l"/>
            <a:r>
              <a:rPr sz="1350" b="1" i="0" u="none">
                <a:solidFill>
                  <a:srgbClr val="0F172A"/>
                </a:solidFill>
                <a:latin typeface="Plus Jakarta Sans"/>
              </a:rPr>
              <a:t>Peak Finding Logic</a:t>
            </a:r>
          </a:p>
        </p:txBody>
      </p:sp>
      <p:sp>
        <p:nvSpPr>
          <p:cNvPr id="10" name="TextBox 9"/>
          <p:cNvSpPr txBox="1"/>
          <p:nvPr/>
        </p:nvSpPr>
        <p:spPr>
          <a:xfrm>
            <a:off x="6448425" y="3460402"/>
            <a:ext cx="5743575" cy="219075"/>
          </a:xfrm>
          <a:prstGeom prst="rect">
            <a:avLst/>
          </a:prstGeom>
          <a:noFill/>
        </p:spPr>
        <p:txBody>
          <a:bodyPr wrap="none" lIns="0" tIns="0" rIns="0" bIns="0" anchor="t">
            <a:spAutoFit/>
          </a:bodyPr>
          <a:lstStyle/>
          <a:p>
            <a:pPr algn="l"/>
            <a:r>
              <a:rPr sz="1350" b="1" i="0" u="none">
                <a:solidFill>
                  <a:srgbClr val="0F172A"/>
                </a:solidFill>
                <a:latin typeface="Plus Jakarta Sans"/>
              </a:rPr>
              <a:t>Ensuring Accuracy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33400" y="6296025"/>
            <a:ext cx="111252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06125" y="419100"/>
            <a:ext cx="752475" cy="276225"/>
          </a:xfrm>
          <a:prstGeom prst="roundRect">
            <a:avLst>
              <a:gd name="adj" fmla="val 5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33400" y="1153417"/>
            <a:ext cx="11125200" cy="5142607"/>
          </a:xfrm>
          <a:prstGeom prst="roundRect">
            <a:avLst>
              <a:gd name="adj" fmla="val 2593"/>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33400" y="6296025"/>
            <a:ext cx="1112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039475" y="476250"/>
            <a:ext cx="581025" cy="161925"/>
          </a:xfrm>
          <a:prstGeom prst="rect">
            <a:avLst/>
          </a:prstGeom>
          <a:noFill/>
        </p:spPr>
        <p:txBody>
          <a:bodyPr wrap="square" lIns="0" tIns="0" rIns="0" bIns="0" anchor="t">
            <a:spAutoFit/>
          </a:bodyPr>
          <a:lstStyle/>
          <a:p>
            <a:pPr algn="l"/>
            <a:r>
              <a:rPr sz="975" b="1" i="0" u="none">
                <a:solidFill>
                  <a:srgbClr val="2563EB"/>
                </a:solidFill>
                <a:latin typeface="Space Grotesk"/>
              </a:rPr>
              <a:t>Working</a:t>
            </a:r>
          </a:p>
        </p:txBody>
      </p:sp>
      <p:sp>
        <p:nvSpPr>
          <p:cNvPr id="7" name="TextBox 6"/>
          <p:cNvSpPr txBox="1"/>
          <p:nvPr/>
        </p:nvSpPr>
        <p:spPr>
          <a:xfrm>
            <a:off x="533400" y="642937"/>
            <a:ext cx="5700712"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Plus Jakarta Sans"/>
              </a:rPr>
              <a:t>Handwritten Working &amp; Solutions</a:t>
            </a:r>
          </a:p>
        </p:txBody>
      </p:sp>
      <p:pic>
        <p:nvPicPr>
          <p:cNvPr id="8" name="Picture 7">
            <a:extLst>
              <a:ext uri="{FF2B5EF4-FFF2-40B4-BE49-F238E27FC236}">
                <a16:creationId xmlns:a16="http://schemas.microsoft.com/office/drawing/2014/main" id="{C9E88133-5AC9-CC8E-F6B9-8B3FFE89DC00}"/>
              </a:ext>
            </a:extLst>
          </p:cNvPr>
          <p:cNvPicPr>
            <a:picLocks noChangeAspect="1"/>
          </p:cNvPicPr>
          <p:nvPr/>
        </p:nvPicPr>
        <p:blipFill>
          <a:blip r:embed="rId2"/>
          <a:stretch>
            <a:fillRect/>
          </a:stretch>
        </p:blipFill>
        <p:spPr>
          <a:xfrm rot="5400000">
            <a:off x="-115316" y="1802133"/>
            <a:ext cx="5189728" cy="38922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4402038" y="3138487"/>
            <a:ext cx="3387923" cy="581025"/>
          </a:xfrm>
          <a:prstGeom prst="rect">
            <a:avLst/>
          </a:prstGeom>
          <a:noFill/>
        </p:spPr>
        <p:txBody>
          <a:bodyPr wrap="none" lIns="0" tIns="0" rIns="0" bIns="0" anchor="t">
            <a:spAutoFit/>
          </a:bodyPr>
          <a:lstStyle/>
          <a:p>
            <a:pPr algn="ctr"/>
            <a:r>
              <a:rPr sz="3600" b="1" i="0" u="none">
                <a:solidFill>
                  <a:srgbClr val="FFFFFF"/>
                </a:solidFill>
                <a:latin typeface="Plus Jakarta Sans"/>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122</TotalTime>
  <Words>1029</Words>
  <Application>Microsoft Office PowerPoint</Application>
  <PresentationFormat>Widescreen</PresentationFormat>
  <Paragraphs>154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Space Grotesk</vt:lpstr>
      <vt:lpstr>Plus Jakarta Sans</vt:lpstr>
      <vt:lpstr>Calibri</vt:lpstr>
      <vt:lpstr>Google Sans Text</vt:lpstr>
      <vt:lpstr>Cambria Math</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ADMIN</cp:lastModifiedBy>
  <cp:revision>4</cp:revision>
  <dcterms:created xsi:type="dcterms:W3CDTF">2013-01-27T09:14:16Z</dcterms:created>
  <dcterms:modified xsi:type="dcterms:W3CDTF">2026-10-23T04:36:04Z</dcterms:modified>
  <cp:category/>
</cp:coreProperties>
</file>